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21"/>
  </p:notesMasterIdLst>
  <p:sldIdLst>
    <p:sldId id="256" r:id="rId2"/>
    <p:sldId id="257" r:id="rId3"/>
    <p:sldId id="258" r:id="rId4"/>
    <p:sldId id="259" r:id="rId5"/>
    <p:sldId id="261" r:id="rId6"/>
    <p:sldId id="268" r:id="rId7"/>
    <p:sldId id="262" r:id="rId8"/>
    <p:sldId id="269" r:id="rId9"/>
    <p:sldId id="270" r:id="rId10"/>
    <p:sldId id="271" r:id="rId11"/>
    <p:sldId id="263" r:id="rId12"/>
    <p:sldId id="264" r:id="rId13"/>
    <p:sldId id="265" r:id="rId14"/>
    <p:sldId id="266" r:id="rId15"/>
    <p:sldId id="272" r:id="rId16"/>
    <p:sldId id="274" r:id="rId17"/>
    <p:sldId id="275" r:id="rId18"/>
    <p:sldId id="276" r:id="rId19"/>
    <p:sldId id="26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p:restoredTop sz="94737"/>
  </p:normalViewPr>
  <p:slideViewPr>
    <p:cSldViewPr snapToGrid="0">
      <p:cViewPr varScale="1">
        <p:scale>
          <a:sx n="119" d="100"/>
          <a:sy n="119" d="100"/>
        </p:scale>
        <p:origin x="4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E0DA78-C0C0-DB41-BAC3-F2C2B1418564}" type="datetimeFigureOut">
              <a:rPr lang="en-US" smtClean="0"/>
              <a:t>10/27/25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54A2F4-54E0-7242-BC40-201BA27C427F}" type="slidenum">
              <a:rPr lang="en-US" smtClean="0"/>
              <a:t>‹#›</a:t>
            </a:fld>
            <a:endParaRPr lang="en-US"/>
          </a:p>
        </p:txBody>
      </p:sp>
    </p:spTree>
    <p:extLst>
      <p:ext uri="{BB962C8B-B14F-4D97-AF65-F5344CB8AC3E}">
        <p14:creationId xmlns:p14="http://schemas.microsoft.com/office/powerpoint/2010/main" val="1342701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54A2F4-54E0-7242-BC40-201BA27C427F}" type="slidenum">
              <a:rPr lang="en-US" smtClean="0"/>
              <a:t>1</a:t>
            </a:fld>
            <a:endParaRPr lang="en-US"/>
          </a:p>
        </p:txBody>
      </p:sp>
    </p:spTree>
    <p:extLst>
      <p:ext uri="{BB962C8B-B14F-4D97-AF65-F5344CB8AC3E}">
        <p14:creationId xmlns:p14="http://schemas.microsoft.com/office/powerpoint/2010/main" val="3282161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3821-597E-4B4F-8572-5DA1CB183565}"/>
              </a:ext>
            </a:extLst>
          </p:cNvPr>
          <p:cNvSpPr>
            <a:spLocks noGrp="1"/>
          </p:cNvSpPr>
          <p:nvPr>
            <p:ph type="ctrTitle"/>
          </p:nvPr>
        </p:nvSpPr>
        <p:spPr>
          <a:xfrm>
            <a:off x="548640" y="950976"/>
            <a:ext cx="6509385" cy="3556730"/>
          </a:xfrm>
        </p:spPr>
        <p:txBody>
          <a:bodyPr anchor="t">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4C38D70-8FF5-47D7-A0DD-087A227BC94F}"/>
              </a:ext>
            </a:extLst>
          </p:cNvPr>
          <p:cNvSpPr>
            <a:spLocks noGrp="1"/>
          </p:cNvSpPr>
          <p:nvPr>
            <p:ph type="subTitle" idx="1"/>
          </p:nvPr>
        </p:nvSpPr>
        <p:spPr>
          <a:xfrm>
            <a:off x="576072" y="4572000"/>
            <a:ext cx="6481953" cy="1485900"/>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DB5B485-516D-48B7-AF1D-69AEEA351A94}"/>
              </a:ext>
            </a:extLst>
          </p:cNvPr>
          <p:cNvSpPr>
            <a:spLocks noGrp="1"/>
          </p:cNvSpPr>
          <p:nvPr>
            <p:ph type="dt" sz="half" idx="10"/>
          </p:nvPr>
        </p:nvSpPr>
        <p:spPr/>
        <p:txBody>
          <a:bodyPr/>
          <a:lstStyle/>
          <a:p>
            <a:fld id="{4CDE23C7-78A4-413A-A84B-93D4CC0A9EB1}" type="datetimeFigureOut">
              <a:rPr lang="en-US" smtClean="0"/>
              <a:t>10/27/25</a:t>
            </a:fld>
            <a:endParaRPr lang="en-US"/>
          </a:p>
        </p:txBody>
      </p:sp>
      <p:sp>
        <p:nvSpPr>
          <p:cNvPr id="5" name="Footer Placeholder 4">
            <a:extLst>
              <a:ext uri="{FF2B5EF4-FFF2-40B4-BE49-F238E27FC236}">
                <a16:creationId xmlns:a16="http://schemas.microsoft.com/office/drawing/2014/main" id="{1D614DDB-2831-4FF8-9DA7-0449659D7A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178F6-65BA-4964-80E2-DB6EA3355FBB}"/>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35662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45AC-24E0-45A1-90C3-7BF96C3FC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2018E1-7CA3-4B5E-9683-554FDFC63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5D32D-7150-4DF2-B992-A2B4F5605D94}"/>
              </a:ext>
            </a:extLst>
          </p:cNvPr>
          <p:cNvSpPr>
            <a:spLocks noGrp="1"/>
          </p:cNvSpPr>
          <p:nvPr>
            <p:ph type="dt" sz="half" idx="10"/>
          </p:nvPr>
        </p:nvSpPr>
        <p:spPr/>
        <p:txBody>
          <a:bodyPr/>
          <a:lstStyle/>
          <a:p>
            <a:fld id="{4CDE23C7-78A4-413A-A84B-93D4CC0A9EB1}" type="datetimeFigureOut">
              <a:rPr lang="en-US" smtClean="0"/>
              <a:t>10/27/25</a:t>
            </a:fld>
            <a:endParaRPr lang="en-US"/>
          </a:p>
        </p:txBody>
      </p:sp>
      <p:sp>
        <p:nvSpPr>
          <p:cNvPr id="5" name="Footer Placeholder 4">
            <a:extLst>
              <a:ext uri="{FF2B5EF4-FFF2-40B4-BE49-F238E27FC236}">
                <a16:creationId xmlns:a16="http://schemas.microsoft.com/office/drawing/2014/main" id="{F3D03F0C-FCA3-464C-B6ED-864DB51E7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41006-DAE1-4326-B1AE-FD527A653BD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469898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B84-BE32-464A-A765-975C21B5CF4B}"/>
              </a:ext>
            </a:extLst>
          </p:cNvPr>
          <p:cNvSpPr>
            <a:spLocks noGrp="1"/>
          </p:cNvSpPr>
          <p:nvPr>
            <p:ph type="title"/>
          </p:nvPr>
        </p:nvSpPr>
        <p:spPr>
          <a:xfrm>
            <a:off x="557923" y="952500"/>
            <a:ext cx="6678695" cy="3962398"/>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640145C2-97CF-4887-904A-8ADC80525A2E}"/>
              </a:ext>
            </a:extLst>
          </p:cNvPr>
          <p:cNvSpPr>
            <a:spLocks noGrp="1"/>
          </p:cNvSpPr>
          <p:nvPr>
            <p:ph type="body" idx="1"/>
          </p:nvPr>
        </p:nvSpPr>
        <p:spPr>
          <a:xfrm>
            <a:off x="8043860" y="952501"/>
            <a:ext cx="3500440" cy="396239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E524559-DA32-4398-A8EE-EED2469D63BB}"/>
              </a:ext>
            </a:extLst>
          </p:cNvPr>
          <p:cNvSpPr>
            <a:spLocks noGrp="1"/>
          </p:cNvSpPr>
          <p:nvPr>
            <p:ph type="dt" sz="half" idx="10"/>
          </p:nvPr>
        </p:nvSpPr>
        <p:spPr/>
        <p:txBody>
          <a:bodyPr/>
          <a:lstStyle/>
          <a:p>
            <a:fld id="{4CDE23C7-78A4-413A-A84B-93D4CC0A9EB1}" type="datetimeFigureOut">
              <a:rPr lang="en-US" smtClean="0"/>
              <a:t>10/27/25</a:t>
            </a:fld>
            <a:endParaRPr lang="en-US"/>
          </a:p>
        </p:txBody>
      </p:sp>
      <p:sp>
        <p:nvSpPr>
          <p:cNvPr id="5" name="Footer Placeholder 4">
            <a:extLst>
              <a:ext uri="{FF2B5EF4-FFF2-40B4-BE49-F238E27FC236}">
                <a16:creationId xmlns:a16="http://schemas.microsoft.com/office/drawing/2014/main" id="{73967BE1-F1AC-4732-B52E-1C7D63DEF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A13C03-DDF0-48C6-B1BF-D28875F8238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940729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F411-42B3-4A17-BE7E-861BE7E7D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8E0603-F4C0-40AC-A53E-40449D53D741}"/>
              </a:ext>
            </a:extLst>
          </p:cNvPr>
          <p:cNvSpPr>
            <a:spLocks noGrp="1"/>
          </p:cNvSpPr>
          <p:nvPr>
            <p:ph sz="half" idx="1"/>
          </p:nvPr>
        </p:nvSpPr>
        <p:spPr>
          <a:xfrm>
            <a:off x="548640"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6BC5634-2887-4182-A9BE-B382357D4F9C}"/>
              </a:ext>
            </a:extLst>
          </p:cNvPr>
          <p:cNvSpPr>
            <a:spLocks noGrp="1"/>
          </p:cNvSpPr>
          <p:nvPr>
            <p:ph sz="half" idx="2"/>
          </p:nvPr>
        </p:nvSpPr>
        <p:spPr>
          <a:xfrm>
            <a:off x="6257928"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56B6E74-28E1-4684-B515-4265ED7B1EAE}"/>
              </a:ext>
            </a:extLst>
          </p:cNvPr>
          <p:cNvSpPr>
            <a:spLocks noGrp="1"/>
          </p:cNvSpPr>
          <p:nvPr>
            <p:ph type="dt" sz="half" idx="10"/>
          </p:nvPr>
        </p:nvSpPr>
        <p:spPr/>
        <p:txBody>
          <a:bodyPr/>
          <a:lstStyle/>
          <a:p>
            <a:fld id="{4CDE23C7-78A4-413A-A84B-93D4CC0A9EB1}" type="datetimeFigureOut">
              <a:rPr lang="en-US" smtClean="0"/>
              <a:t>10/27/25</a:t>
            </a:fld>
            <a:endParaRPr lang="en-US"/>
          </a:p>
        </p:txBody>
      </p:sp>
      <p:sp>
        <p:nvSpPr>
          <p:cNvPr id="6" name="Footer Placeholder 5">
            <a:extLst>
              <a:ext uri="{FF2B5EF4-FFF2-40B4-BE49-F238E27FC236}">
                <a16:creationId xmlns:a16="http://schemas.microsoft.com/office/drawing/2014/main" id="{18D375EA-A8F8-485D-A82F-CD85D4C9E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9E4B0-F5E3-407F-A548-B616E774987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497676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161A-7627-4D64-AF08-10D702AFE286}"/>
              </a:ext>
            </a:extLst>
          </p:cNvPr>
          <p:cNvSpPr>
            <a:spLocks noGrp="1"/>
          </p:cNvSpPr>
          <p:nvPr>
            <p:ph type="title"/>
          </p:nvPr>
        </p:nvSpPr>
        <p:spPr>
          <a:xfrm>
            <a:off x="552659" y="950976"/>
            <a:ext cx="10802729" cy="88179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53B6884-07D8-4CC4-BE99-516F1433BED8}"/>
              </a:ext>
            </a:extLst>
          </p:cNvPr>
          <p:cNvSpPr>
            <a:spLocks noGrp="1"/>
          </p:cNvSpPr>
          <p:nvPr>
            <p:ph type="body" idx="1"/>
          </p:nvPr>
        </p:nvSpPr>
        <p:spPr>
          <a:xfrm>
            <a:off x="542918" y="1832772"/>
            <a:ext cx="5281507"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182C638-B5A8-4F8C-85AE-33BEAF54C07A}"/>
              </a:ext>
            </a:extLst>
          </p:cNvPr>
          <p:cNvSpPr>
            <a:spLocks noGrp="1"/>
          </p:cNvSpPr>
          <p:nvPr>
            <p:ph sz="half" idx="2"/>
          </p:nvPr>
        </p:nvSpPr>
        <p:spPr>
          <a:xfrm>
            <a:off x="548640" y="2600531"/>
            <a:ext cx="528150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40D1933-A703-4BDC-A697-728E899EEDE1}"/>
              </a:ext>
            </a:extLst>
          </p:cNvPr>
          <p:cNvSpPr>
            <a:spLocks noGrp="1"/>
          </p:cNvSpPr>
          <p:nvPr>
            <p:ph type="body" sz="quarter" idx="3"/>
          </p:nvPr>
        </p:nvSpPr>
        <p:spPr>
          <a:xfrm>
            <a:off x="6257927" y="1832772"/>
            <a:ext cx="5283202"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5925DBD-4D51-4A2D-B1E4-6D094CD1E803}"/>
              </a:ext>
            </a:extLst>
          </p:cNvPr>
          <p:cNvSpPr>
            <a:spLocks noGrp="1"/>
          </p:cNvSpPr>
          <p:nvPr>
            <p:ph sz="quarter" idx="4"/>
          </p:nvPr>
        </p:nvSpPr>
        <p:spPr>
          <a:xfrm>
            <a:off x="6257927" y="2600531"/>
            <a:ext cx="52832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2636E2-E26E-42F7-9E05-3F756C7D17AE}"/>
              </a:ext>
            </a:extLst>
          </p:cNvPr>
          <p:cNvSpPr>
            <a:spLocks noGrp="1"/>
          </p:cNvSpPr>
          <p:nvPr>
            <p:ph type="dt" sz="half" idx="10"/>
          </p:nvPr>
        </p:nvSpPr>
        <p:spPr/>
        <p:txBody>
          <a:bodyPr/>
          <a:lstStyle/>
          <a:p>
            <a:fld id="{4CDE23C7-78A4-413A-A84B-93D4CC0A9EB1}" type="datetimeFigureOut">
              <a:rPr lang="en-US" smtClean="0"/>
              <a:t>10/27/25</a:t>
            </a:fld>
            <a:endParaRPr lang="en-US"/>
          </a:p>
        </p:txBody>
      </p:sp>
      <p:sp>
        <p:nvSpPr>
          <p:cNvPr id="8" name="Footer Placeholder 7">
            <a:extLst>
              <a:ext uri="{FF2B5EF4-FFF2-40B4-BE49-F238E27FC236}">
                <a16:creationId xmlns:a16="http://schemas.microsoft.com/office/drawing/2014/main" id="{86F7281B-0E5C-421E-AFFE-775F57C5DD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483462-E410-4DC7-AE53-27AABECFE6E8}"/>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101280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CFA68-31B5-48C5-929A-842FDF0FD8E7}"/>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95A2600-419E-46E9-946F-FBDEDBA1D448}"/>
              </a:ext>
            </a:extLst>
          </p:cNvPr>
          <p:cNvSpPr>
            <a:spLocks noGrp="1"/>
          </p:cNvSpPr>
          <p:nvPr>
            <p:ph type="dt" sz="half" idx="10"/>
          </p:nvPr>
        </p:nvSpPr>
        <p:spPr/>
        <p:txBody>
          <a:bodyPr/>
          <a:lstStyle/>
          <a:p>
            <a:fld id="{4CDE23C7-78A4-413A-A84B-93D4CC0A9EB1}" type="datetimeFigureOut">
              <a:rPr lang="en-US" smtClean="0"/>
              <a:t>10/27/25</a:t>
            </a:fld>
            <a:endParaRPr lang="en-US"/>
          </a:p>
        </p:txBody>
      </p:sp>
      <p:sp>
        <p:nvSpPr>
          <p:cNvPr id="4" name="Footer Placeholder 3">
            <a:extLst>
              <a:ext uri="{FF2B5EF4-FFF2-40B4-BE49-F238E27FC236}">
                <a16:creationId xmlns:a16="http://schemas.microsoft.com/office/drawing/2014/main" id="{1385F9A9-98FF-4653-A570-9F351A1ABD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D44457-95F1-4B15-A647-B14F91F7A6D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423744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9EABA-1008-4E49-9184-3A946ECD7199}"/>
              </a:ext>
            </a:extLst>
          </p:cNvPr>
          <p:cNvSpPr>
            <a:spLocks noGrp="1"/>
          </p:cNvSpPr>
          <p:nvPr>
            <p:ph type="dt" sz="half" idx="10"/>
          </p:nvPr>
        </p:nvSpPr>
        <p:spPr/>
        <p:txBody>
          <a:bodyPr/>
          <a:lstStyle/>
          <a:p>
            <a:fld id="{4CDE23C7-78A4-413A-A84B-93D4CC0A9EB1}" type="datetimeFigureOut">
              <a:rPr lang="en-US" smtClean="0"/>
              <a:t>10/27/25</a:t>
            </a:fld>
            <a:endParaRPr lang="en-US"/>
          </a:p>
        </p:txBody>
      </p:sp>
      <p:sp>
        <p:nvSpPr>
          <p:cNvPr id="3" name="Footer Placeholder 2">
            <a:extLst>
              <a:ext uri="{FF2B5EF4-FFF2-40B4-BE49-F238E27FC236}">
                <a16:creationId xmlns:a16="http://schemas.microsoft.com/office/drawing/2014/main" id="{D05C3BD0-269D-4127-B5F7-84B0D8A742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623447-C740-4495-93EC-7252B1B929E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928956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1155-71E7-4F0A-BB62-933743CF6EDD}"/>
              </a:ext>
            </a:extLst>
          </p:cNvPr>
          <p:cNvSpPr>
            <a:spLocks noGrp="1"/>
          </p:cNvSpPr>
          <p:nvPr>
            <p:ph type="title"/>
          </p:nvPr>
        </p:nvSpPr>
        <p:spPr>
          <a:xfrm>
            <a:off x="548640" y="952500"/>
            <a:ext cx="4124084" cy="2362200"/>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E0CB6D44-5A1E-4176-8766-4B81E045D50A}"/>
              </a:ext>
            </a:extLst>
          </p:cNvPr>
          <p:cNvSpPr>
            <a:spLocks noGrp="1"/>
          </p:cNvSpPr>
          <p:nvPr>
            <p:ph idx="1"/>
          </p:nvPr>
        </p:nvSpPr>
        <p:spPr>
          <a:xfrm>
            <a:off x="5600700" y="952500"/>
            <a:ext cx="5934074" cy="49085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C810EC6-11DD-4B5D-A2D2-4DCF73E58389}"/>
              </a:ext>
            </a:extLst>
          </p:cNvPr>
          <p:cNvSpPr>
            <a:spLocks noGrp="1"/>
          </p:cNvSpPr>
          <p:nvPr>
            <p:ph type="body" sz="half" idx="2"/>
          </p:nvPr>
        </p:nvSpPr>
        <p:spPr>
          <a:xfrm>
            <a:off x="548641" y="3429000"/>
            <a:ext cx="4124084" cy="24399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D5DFCDF-666E-4DB4-A1C0-79D40A007066}"/>
              </a:ext>
            </a:extLst>
          </p:cNvPr>
          <p:cNvSpPr>
            <a:spLocks noGrp="1"/>
          </p:cNvSpPr>
          <p:nvPr>
            <p:ph type="dt" sz="half" idx="10"/>
          </p:nvPr>
        </p:nvSpPr>
        <p:spPr/>
        <p:txBody>
          <a:bodyPr/>
          <a:lstStyle/>
          <a:p>
            <a:fld id="{4CDE23C7-78A4-413A-A84B-93D4CC0A9EB1}" type="datetimeFigureOut">
              <a:rPr lang="en-US" smtClean="0"/>
              <a:t>10/27/25</a:t>
            </a:fld>
            <a:endParaRPr lang="en-US"/>
          </a:p>
        </p:txBody>
      </p:sp>
      <p:sp>
        <p:nvSpPr>
          <p:cNvPr id="6" name="Footer Placeholder 5">
            <a:extLst>
              <a:ext uri="{FF2B5EF4-FFF2-40B4-BE49-F238E27FC236}">
                <a16:creationId xmlns:a16="http://schemas.microsoft.com/office/drawing/2014/main" id="{083A69AC-15E6-4B19-A59D-DBDBE923DB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79F0EE-74DE-4FEC-81E9-E40D53397857}"/>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463588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A4F-6508-4AD6-8367-A0288D888DD6}"/>
              </a:ext>
            </a:extLst>
          </p:cNvPr>
          <p:cNvSpPr>
            <a:spLocks noGrp="1"/>
          </p:cNvSpPr>
          <p:nvPr>
            <p:ph type="title"/>
          </p:nvPr>
        </p:nvSpPr>
        <p:spPr>
          <a:xfrm>
            <a:off x="548641" y="952500"/>
            <a:ext cx="4124084" cy="239791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1906BFCD-2F93-4D99-89EA-F0359FB782B7}"/>
              </a:ext>
            </a:extLst>
          </p:cNvPr>
          <p:cNvSpPr>
            <a:spLocks noGrp="1"/>
          </p:cNvSpPr>
          <p:nvPr>
            <p:ph type="pic" idx="1"/>
          </p:nvPr>
        </p:nvSpPr>
        <p:spPr>
          <a:xfrm>
            <a:off x="5522119" y="987425"/>
            <a:ext cx="602218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F4C1F7-1272-41C8-8C29-676316D02D5D}"/>
              </a:ext>
            </a:extLst>
          </p:cNvPr>
          <p:cNvSpPr>
            <a:spLocks noGrp="1"/>
          </p:cNvSpPr>
          <p:nvPr>
            <p:ph type="body" sz="half" idx="2"/>
          </p:nvPr>
        </p:nvSpPr>
        <p:spPr>
          <a:xfrm>
            <a:off x="548641" y="3429000"/>
            <a:ext cx="4124084" cy="24399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A5CDD491-0FE6-4B42-AAA6-B698E46F1A8E}"/>
              </a:ext>
            </a:extLst>
          </p:cNvPr>
          <p:cNvSpPr>
            <a:spLocks noGrp="1"/>
          </p:cNvSpPr>
          <p:nvPr>
            <p:ph type="dt" sz="half" idx="10"/>
          </p:nvPr>
        </p:nvSpPr>
        <p:spPr/>
        <p:txBody>
          <a:bodyPr/>
          <a:lstStyle/>
          <a:p>
            <a:fld id="{4CDE23C7-78A4-413A-A84B-93D4CC0A9EB1}" type="datetimeFigureOut">
              <a:rPr lang="en-US" smtClean="0"/>
              <a:t>10/27/25</a:t>
            </a:fld>
            <a:endParaRPr lang="en-US"/>
          </a:p>
        </p:txBody>
      </p:sp>
      <p:sp>
        <p:nvSpPr>
          <p:cNvPr id="6" name="Footer Placeholder 5">
            <a:extLst>
              <a:ext uri="{FF2B5EF4-FFF2-40B4-BE49-F238E27FC236}">
                <a16:creationId xmlns:a16="http://schemas.microsoft.com/office/drawing/2014/main" id="{D258F83F-4E9F-4607-A69B-DFC932560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24484-C6E4-4D8A-BDAB-09B1FBB43631}"/>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774266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07F1B-6F93-4E6E-8C8C-D01A9DEB6A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7D2968-FE85-492F-A77B-1771F4EAA8C6}"/>
              </a:ext>
            </a:extLst>
          </p:cNvPr>
          <p:cNvSpPr>
            <a:spLocks noGrp="1"/>
          </p:cNvSpPr>
          <p:nvPr>
            <p:ph type="body" orient="vert" idx="1"/>
          </p:nvPr>
        </p:nvSpPr>
        <p:spPr>
          <a:xfrm>
            <a:off x="548641" y="2028826"/>
            <a:ext cx="11094348" cy="402907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4592DA2-B1FB-45C6-B10C-141AC2BFB381}"/>
              </a:ext>
            </a:extLst>
          </p:cNvPr>
          <p:cNvSpPr>
            <a:spLocks noGrp="1"/>
          </p:cNvSpPr>
          <p:nvPr>
            <p:ph type="dt" sz="half" idx="10"/>
          </p:nvPr>
        </p:nvSpPr>
        <p:spPr/>
        <p:txBody>
          <a:bodyPr/>
          <a:lstStyle/>
          <a:p>
            <a:fld id="{4CDE23C7-78A4-413A-A84B-93D4CC0A9EB1}" type="datetimeFigureOut">
              <a:rPr lang="en-US" smtClean="0"/>
              <a:t>10/27/25</a:t>
            </a:fld>
            <a:endParaRPr lang="en-US"/>
          </a:p>
        </p:txBody>
      </p:sp>
      <p:sp>
        <p:nvSpPr>
          <p:cNvPr id="5" name="Footer Placeholder 4">
            <a:extLst>
              <a:ext uri="{FF2B5EF4-FFF2-40B4-BE49-F238E27FC236}">
                <a16:creationId xmlns:a16="http://schemas.microsoft.com/office/drawing/2014/main" id="{18CA6D78-CE47-4CA7-B3B6-AFAE5175F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EDC5C0-8780-4819-A8FC-32A0141D271C}"/>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882599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8F9A8-05F2-4F79-B689-1FA2F31965D8}"/>
              </a:ext>
            </a:extLst>
          </p:cNvPr>
          <p:cNvSpPr>
            <a:spLocks noGrp="1"/>
          </p:cNvSpPr>
          <p:nvPr>
            <p:ph type="title" orient="vert"/>
          </p:nvPr>
        </p:nvSpPr>
        <p:spPr>
          <a:xfrm>
            <a:off x="9472612" y="952499"/>
            <a:ext cx="2207417" cy="51054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05D615BC-61CD-4D59-8E85-B59072E2B22D}"/>
              </a:ext>
            </a:extLst>
          </p:cNvPr>
          <p:cNvSpPr>
            <a:spLocks noGrp="1"/>
          </p:cNvSpPr>
          <p:nvPr>
            <p:ph type="body" orient="vert" idx="1"/>
          </p:nvPr>
        </p:nvSpPr>
        <p:spPr>
          <a:xfrm>
            <a:off x="557924" y="952499"/>
            <a:ext cx="8914688" cy="51054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3F81C46-8CC0-4B79-AF2E-84C86C6A803A}"/>
              </a:ext>
            </a:extLst>
          </p:cNvPr>
          <p:cNvSpPr>
            <a:spLocks noGrp="1"/>
          </p:cNvSpPr>
          <p:nvPr>
            <p:ph type="dt" sz="half" idx="10"/>
          </p:nvPr>
        </p:nvSpPr>
        <p:spPr/>
        <p:txBody>
          <a:bodyPr/>
          <a:lstStyle/>
          <a:p>
            <a:fld id="{4CDE23C7-78A4-413A-A84B-93D4CC0A9EB1}" type="datetimeFigureOut">
              <a:rPr lang="en-US" smtClean="0"/>
              <a:t>10/27/25</a:t>
            </a:fld>
            <a:endParaRPr lang="en-US"/>
          </a:p>
        </p:txBody>
      </p:sp>
      <p:sp>
        <p:nvSpPr>
          <p:cNvPr id="5" name="Footer Placeholder 4">
            <a:extLst>
              <a:ext uri="{FF2B5EF4-FFF2-40B4-BE49-F238E27FC236}">
                <a16:creationId xmlns:a16="http://schemas.microsoft.com/office/drawing/2014/main" id="{A1A76817-4D29-4888-B68C-A35F5A069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0B21A-30A9-4173-9E3F-D985B86A35C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52919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90E843-90BA-4A7D-8F9F-FFE49387A618}"/>
              </a:ext>
            </a:extLst>
          </p:cNvPr>
          <p:cNvSpPr>
            <a:spLocks noGrp="1"/>
          </p:cNvSpPr>
          <p:nvPr>
            <p:ph type="title"/>
          </p:nvPr>
        </p:nvSpPr>
        <p:spPr>
          <a:xfrm>
            <a:off x="548639" y="950976"/>
            <a:ext cx="10995659" cy="107784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3F7CA62-9B55-49B4-94B6-EAAF7D5AE0DC}"/>
              </a:ext>
            </a:extLst>
          </p:cNvPr>
          <p:cNvSpPr>
            <a:spLocks noGrp="1"/>
          </p:cNvSpPr>
          <p:nvPr>
            <p:ph type="body" idx="1"/>
          </p:nvPr>
        </p:nvSpPr>
        <p:spPr>
          <a:xfrm>
            <a:off x="548641" y="2028826"/>
            <a:ext cx="10995660" cy="402907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93CEA03-AAFA-4A69-A3DA-1DD0EF273F11}"/>
              </a:ext>
            </a:extLst>
          </p:cNvPr>
          <p:cNvSpPr>
            <a:spLocks noGrp="1"/>
          </p:cNvSpPr>
          <p:nvPr>
            <p:ph type="dt" sz="half" idx="2"/>
          </p:nvPr>
        </p:nvSpPr>
        <p:spPr>
          <a:xfrm>
            <a:off x="588729" y="6449535"/>
            <a:ext cx="2983095" cy="308453"/>
          </a:xfrm>
          <a:prstGeom prst="rect">
            <a:avLst/>
          </a:prstGeom>
        </p:spPr>
        <p:txBody>
          <a:bodyPr vert="horz" lIns="91440" tIns="45720" rIns="91440" bIns="45720" rtlCol="0" anchor="t"/>
          <a:lstStyle>
            <a:lvl1pPr algn="l">
              <a:defRPr sz="900">
                <a:solidFill>
                  <a:schemeClr val="tx1"/>
                </a:solidFill>
              </a:defRPr>
            </a:lvl1pPr>
          </a:lstStyle>
          <a:p>
            <a:fld id="{4CDE23C7-78A4-413A-A84B-93D4CC0A9EB1}" type="datetimeFigureOut">
              <a:rPr lang="en-US" smtClean="0"/>
              <a:pPr/>
              <a:t>10/27/25</a:t>
            </a:fld>
            <a:endParaRPr lang="en-US" dirty="0"/>
          </a:p>
        </p:txBody>
      </p:sp>
      <p:sp>
        <p:nvSpPr>
          <p:cNvPr id="5" name="Footer Placeholder 4">
            <a:extLst>
              <a:ext uri="{FF2B5EF4-FFF2-40B4-BE49-F238E27FC236}">
                <a16:creationId xmlns:a16="http://schemas.microsoft.com/office/drawing/2014/main" id="{F3E97F43-1ECB-4FC2-863E-26CEE24A008A}"/>
              </a:ext>
            </a:extLst>
          </p:cNvPr>
          <p:cNvSpPr>
            <a:spLocks noGrp="1"/>
          </p:cNvSpPr>
          <p:nvPr>
            <p:ph type="ftr" sz="quarter" idx="3"/>
          </p:nvPr>
        </p:nvSpPr>
        <p:spPr>
          <a:xfrm>
            <a:off x="557924" y="173776"/>
            <a:ext cx="411480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53C7F9D8-4B2E-4871-B2AE-EFC06BE23179}"/>
              </a:ext>
            </a:extLst>
          </p:cNvPr>
          <p:cNvSpPr>
            <a:spLocks noGrp="1"/>
          </p:cNvSpPr>
          <p:nvPr>
            <p:ph type="sldNum" sz="quarter" idx="4"/>
          </p:nvPr>
        </p:nvSpPr>
        <p:spPr>
          <a:xfrm>
            <a:off x="10710710" y="6449535"/>
            <a:ext cx="932279" cy="308453"/>
          </a:xfrm>
          <a:prstGeom prst="rect">
            <a:avLst/>
          </a:prstGeom>
        </p:spPr>
        <p:txBody>
          <a:bodyPr vert="horz" lIns="91440" tIns="45720" rIns="91440" bIns="45720" rtlCol="0" anchor="t"/>
          <a:lstStyle>
            <a:lvl1pPr algn="r">
              <a:defRPr sz="900">
                <a:solidFill>
                  <a:schemeClr val="tx1"/>
                </a:solidFill>
              </a:defRPr>
            </a:lvl1pPr>
          </a:lstStyle>
          <a:p>
            <a:fld id="{6CB39E08-E0E5-4B1A-8F7D-08FE7678A3B6}" type="slidenum">
              <a:rPr lang="en-US" smtClean="0"/>
              <a:pPr/>
              <a:t>‹#›</a:t>
            </a:fld>
            <a:endParaRPr lang="en-US"/>
          </a:p>
        </p:txBody>
      </p:sp>
      <p:cxnSp>
        <p:nvCxnSpPr>
          <p:cNvPr id="7" name="Straight Connector 6">
            <a:extLst>
              <a:ext uri="{FF2B5EF4-FFF2-40B4-BE49-F238E27FC236}">
                <a16:creationId xmlns:a16="http://schemas.microsoft.com/office/drawing/2014/main" id="{462919E4-C488-4107-9EF1-66152F848008}"/>
              </a:ext>
            </a:extLst>
          </p:cNvPr>
          <p:cNvCxnSpPr>
            <a:cxnSpLocks/>
          </p:cNvCxnSpPr>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BF79732-4088-424C-A653-4534E4389443}"/>
              </a:ext>
            </a:extLst>
          </p:cNvPr>
          <p:cNvCxnSpPr>
            <a:cxnSpLocks/>
          </p:cNvCxnSpPr>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1809940"/>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11" r:id="rId6"/>
    <p:sldLayoutId id="2147483706" r:id="rId7"/>
    <p:sldLayoutId id="2147483707" r:id="rId8"/>
    <p:sldLayoutId id="2147483708" r:id="rId9"/>
    <p:sldLayoutId id="2147483710" r:id="rId10"/>
    <p:sldLayoutId id="2147483709" r:id="rId11"/>
  </p:sldLayoutIdLst>
  <p:txStyles>
    <p:titleStyle>
      <a:lvl1pPr algn="l" defTabSz="914400" rtl="0" eaLnBrk="1" latinLnBrk="0" hangingPunct="1">
        <a:lnSpc>
          <a:spcPct val="85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D18051F-0BA4-4C80-832C-1845011B9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eb of dots connected">
            <a:extLst>
              <a:ext uri="{FF2B5EF4-FFF2-40B4-BE49-F238E27FC236}">
                <a16:creationId xmlns:a16="http://schemas.microsoft.com/office/drawing/2014/main" id="{DEA8DF60-B132-6B54-2412-7734322D2673}"/>
              </a:ext>
            </a:extLst>
          </p:cNvPr>
          <p:cNvPicPr>
            <a:picLocks noChangeAspect="1"/>
          </p:cNvPicPr>
          <p:nvPr/>
        </p:nvPicPr>
        <p:blipFill>
          <a:blip r:embed="rId3"/>
          <a:srcRect l="20444" r="1" b="1"/>
          <a:stretch>
            <a:fillRect/>
          </a:stretch>
        </p:blipFill>
        <p:spPr>
          <a:xfrm>
            <a:off x="20" y="10"/>
            <a:ext cx="12191981" cy="6857990"/>
          </a:xfrm>
          <a:prstGeom prst="rect">
            <a:avLst/>
          </a:prstGeom>
        </p:spPr>
      </p:pic>
      <p:sp>
        <p:nvSpPr>
          <p:cNvPr id="11" name="Rectangle 10">
            <a:extLst>
              <a:ext uri="{FF2B5EF4-FFF2-40B4-BE49-F238E27FC236}">
                <a16:creationId xmlns:a16="http://schemas.microsoft.com/office/drawing/2014/main" id="{13F26D5C-77E9-4A8D-95F0-1635BAD12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961205" y="-372795"/>
            <a:ext cx="6857999" cy="7603591"/>
          </a:xfrm>
          <a:prstGeom prst="rect">
            <a:avLst/>
          </a:prstGeom>
          <a:gradFill flip="none" rotWithShape="1">
            <a:gsLst>
              <a:gs pos="3000">
                <a:srgbClr val="000000">
                  <a:alpha val="0"/>
                </a:srgbClr>
              </a:gs>
              <a:gs pos="73000">
                <a:srgbClr val="000000">
                  <a:alpha val="48000"/>
                </a:srgbClr>
              </a:gs>
              <a:gs pos="100000">
                <a:srgbClr val="000000">
                  <a:alpha val="58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6DA23A-52F8-E2E4-D914-9451D4334531}"/>
              </a:ext>
            </a:extLst>
          </p:cNvPr>
          <p:cNvSpPr>
            <a:spLocks noGrp="1"/>
          </p:cNvSpPr>
          <p:nvPr>
            <p:ph type="ctrTitle"/>
          </p:nvPr>
        </p:nvSpPr>
        <p:spPr>
          <a:xfrm>
            <a:off x="6743699" y="952500"/>
            <a:ext cx="4854071" cy="3893582"/>
          </a:xfrm>
        </p:spPr>
        <p:txBody>
          <a:bodyPr>
            <a:normAutofit/>
          </a:bodyPr>
          <a:lstStyle/>
          <a:p>
            <a:pPr algn="r"/>
            <a:r>
              <a:rPr lang="en-US" dirty="0">
                <a:solidFill>
                  <a:srgbClr val="FFFFFF"/>
                </a:solidFill>
              </a:rPr>
              <a:t>Building a Light-weight Sentiment &amp; Sarcasm Classifier</a:t>
            </a:r>
          </a:p>
        </p:txBody>
      </p:sp>
      <p:sp>
        <p:nvSpPr>
          <p:cNvPr id="3" name="Subtitle 2">
            <a:extLst>
              <a:ext uri="{FF2B5EF4-FFF2-40B4-BE49-F238E27FC236}">
                <a16:creationId xmlns:a16="http://schemas.microsoft.com/office/drawing/2014/main" id="{9FEB106F-5DF5-0098-06E9-E0B615B9A88D}"/>
              </a:ext>
            </a:extLst>
          </p:cNvPr>
          <p:cNvSpPr>
            <a:spLocks noGrp="1"/>
          </p:cNvSpPr>
          <p:nvPr>
            <p:ph type="subTitle" idx="1"/>
          </p:nvPr>
        </p:nvSpPr>
        <p:spPr>
          <a:xfrm>
            <a:off x="6743699" y="4846083"/>
            <a:ext cx="4872618" cy="1211818"/>
          </a:xfrm>
        </p:spPr>
        <p:txBody>
          <a:bodyPr anchor="b">
            <a:normAutofit/>
          </a:bodyPr>
          <a:lstStyle/>
          <a:p>
            <a:pPr algn="r"/>
            <a:r>
              <a:rPr lang="en-US" dirty="0">
                <a:solidFill>
                  <a:srgbClr val="FFFFFF"/>
                </a:solidFill>
              </a:rPr>
              <a:t>Pengli Shao</a:t>
            </a:r>
          </a:p>
        </p:txBody>
      </p:sp>
      <p:cxnSp>
        <p:nvCxnSpPr>
          <p:cNvPr id="13" name="Straight Connector 12">
            <a:extLst>
              <a:ext uri="{FF2B5EF4-FFF2-40B4-BE49-F238E27FC236}">
                <a16:creationId xmlns:a16="http://schemas.microsoft.com/office/drawing/2014/main" id="{0632DC5A-0728-490F-8655-6B43778270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BB1F6D-CF9C-422D-9324-C46415BB9D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880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3A6A8-EFFF-6256-ED45-0A7B67C6BC49}"/>
              </a:ext>
            </a:extLst>
          </p:cNvPr>
          <p:cNvSpPr>
            <a:spLocks noGrp="1"/>
          </p:cNvSpPr>
          <p:nvPr>
            <p:ph type="title"/>
          </p:nvPr>
        </p:nvSpPr>
        <p:spPr/>
        <p:txBody>
          <a:bodyPr/>
          <a:lstStyle/>
          <a:p>
            <a:r>
              <a:rPr lang="en-US" dirty="0"/>
              <a:t>Motivation - Scenario</a:t>
            </a:r>
          </a:p>
        </p:txBody>
      </p:sp>
      <p:sp>
        <p:nvSpPr>
          <p:cNvPr id="3" name="Content Placeholder 2">
            <a:extLst>
              <a:ext uri="{FF2B5EF4-FFF2-40B4-BE49-F238E27FC236}">
                <a16:creationId xmlns:a16="http://schemas.microsoft.com/office/drawing/2014/main" id="{C2E27DA1-EAF5-7C2D-8869-EB806C6E02A6}"/>
              </a:ext>
            </a:extLst>
          </p:cNvPr>
          <p:cNvSpPr>
            <a:spLocks noGrp="1"/>
          </p:cNvSpPr>
          <p:nvPr>
            <p:ph idx="1"/>
          </p:nvPr>
        </p:nvSpPr>
        <p:spPr/>
        <p:txBody>
          <a:bodyPr/>
          <a:lstStyle/>
          <a:p>
            <a:r>
              <a:rPr lang="en-US" dirty="0"/>
              <a:t>Accurate sentiment recognition plays an important role in product market analysis and software updates. Yet much of the web comments, posts, reviews, and tweets contains memes, sarcasm, and rhetorical questions, which often cause analysis tools to misclassify users’ emotions</a:t>
            </a:r>
          </a:p>
          <a:p>
            <a:pPr lvl="2"/>
            <a:r>
              <a:rPr lang="en-US" dirty="0"/>
              <a:t>For example, YouTube users complain that</a:t>
            </a:r>
            <a:r>
              <a:rPr lang="zh-CN" altLang="en-US" dirty="0"/>
              <a:t> </a:t>
            </a:r>
            <a:r>
              <a:rPr lang="en-US" altLang="zh-CN" dirty="0"/>
              <a:t>non-subscribers </a:t>
            </a:r>
            <a:r>
              <a:rPr lang="en-US" dirty="0"/>
              <a:t>have to watch a minute-long ads before watching videos. YouTube ”fixes” the issue by splitting the ad into three 20-second segments inserted at different points in the video. At this point, a comment like “Great Job, Einstein” could be misclassified as positive by analysis tools.</a:t>
            </a:r>
          </a:p>
        </p:txBody>
      </p:sp>
    </p:spTree>
    <p:extLst>
      <p:ext uri="{BB962C8B-B14F-4D97-AF65-F5344CB8AC3E}">
        <p14:creationId xmlns:p14="http://schemas.microsoft.com/office/powerpoint/2010/main" val="2796605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D9F95-2EDA-781F-F1A2-7167F47601EC}"/>
              </a:ext>
            </a:extLst>
          </p:cNvPr>
          <p:cNvSpPr>
            <a:spLocks noGrp="1"/>
          </p:cNvSpPr>
          <p:nvPr>
            <p:ph type="title"/>
          </p:nvPr>
        </p:nvSpPr>
        <p:spPr/>
        <p:txBody>
          <a:bodyPr/>
          <a:lstStyle/>
          <a:p>
            <a:r>
              <a:rPr lang="en-US" dirty="0"/>
              <a:t>Motivation - Problem</a:t>
            </a:r>
          </a:p>
        </p:txBody>
      </p:sp>
      <p:sp>
        <p:nvSpPr>
          <p:cNvPr id="3" name="Content Placeholder 2">
            <a:extLst>
              <a:ext uri="{FF2B5EF4-FFF2-40B4-BE49-F238E27FC236}">
                <a16:creationId xmlns:a16="http://schemas.microsoft.com/office/drawing/2014/main" id="{6BA8474F-083C-5A56-C501-8AA3776E8701}"/>
              </a:ext>
            </a:extLst>
          </p:cNvPr>
          <p:cNvSpPr>
            <a:spLocks noGrp="1"/>
          </p:cNvSpPr>
          <p:nvPr>
            <p:ph idx="1"/>
          </p:nvPr>
        </p:nvSpPr>
        <p:spPr/>
        <p:txBody>
          <a:bodyPr/>
          <a:lstStyle/>
          <a:p>
            <a:r>
              <a:rPr lang="en-US" dirty="0"/>
              <a:t>Currently, strong performance on both sentiment and sarcasm detection is mostly achieved by large base foundation models, which require substantial resources usage and long inference time.</a:t>
            </a:r>
          </a:p>
          <a:p>
            <a:r>
              <a:rPr lang="en-US" dirty="0"/>
              <a:t>So, how to identify users’ sentiment and sarcasm accurately and fast is crucial for certain tasks.</a:t>
            </a:r>
          </a:p>
          <a:p>
            <a:endParaRPr lang="en-US" dirty="0"/>
          </a:p>
        </p:txBody>
      </p:sp>
    </p:spTree>
    <p:extLst>
      <p:ext uri="{BB962C8B-B14F-4D97-AF65-F5344CB8AC3E}">
        <p14:creationId xmlns:p14="http://schemas.microsoft.com/office/powerpoint/2010/main" val="2705270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E982C-E4F0-FCBA-BF1E-6137BBC345A7}"/>
              </a:ext>
            </a:extLst>
          </p:cNvPr>
          <p:cNvSpPr>
            <a:spLocks noGrp="1"/>
          </p:cNvSpPr>
          <p:nvPr>
            <p:ph type="title"/>
          </p:nvPr>
        </p:nvSpPr>
        <p:spPr/>
        <p:txBody>
          <a:bodyPr/>
          <a:lstStyle/>
          <a:p>
            <a:r>
              <a:rPr lang="en-US" dirty="0"/>
              <a:t>Project Goal</a:t>
            </a:r>
          </a:p>
        </p:txBody>
      </p:sp>
      <p:sp>
        <p:nvSpPr>
          <p:cNvPr id="3" name="Content Placeholder 2">
            <a:extLst>
              <a:ext uri="{FF2B5EF4-FFF2-40B4-BE49-F238E27FC236}">
                <a16:creationId xmlns:a16="http://schemas.microsoft.com/office/drawing/2014/main" id="{A0772133-BE44-6962-F4CC-DC3F7EF17176}"/>
              </a:ext>
            </a:extLst>
          </p:cNvPr>
          <p:cNvSpPr>
            <a:spLocks noGrp="1"/>
          </p:cNvSpPr>
          <p:nvPr>
            <p:ph idx="1"/>
          </p:nvPr>
        </p:nvSpPr>
        <p:spPr/>
        <p:txBody>
          <a:bodyPr/>
          <a:lstStyle/>
          <a:p>
            <a:r>
              <a:rPr lang="en-US" dirty="0"/>
              <a:t>Fine-tune a light-weight model</a:t>
            </a:r>
            <a:r>
              <a:rPr lang="zh-CN" altLang="en-US" dirty="0"/>
              <a:t> </a:t>
            </a:r>
            <a:r>
              <a:rPr lang="en-US" altLang="zh-CN" dirty="0"/>
              <a:t>for sentiment &amp; sarcasm classifier task for comments/posts/tweets/reviews</a:t>
            </a:r>
            <a:r>
              <a:rPr lang="en-US" dirty="0"/>
              <a:t>:</a:t>
            </a:r>
          </a:p>
          <a:p>
            <a:pPr marL="617220" lvl="1" indent="-342900">
              <a:buFont typeface="+mj-lt"/>
              <a:buAutoNum type="arabicPeriod"/>
            </a:pPr>
            <a:r>
              <a:rPr lang="en-US" dirty="0"/>
              <a:t>Llama 3.1-8B-Instruct</a:t>
            </a:r>
          </a:p>
          <a:p>
            <a:pPr marL="617220" lvl="1" indent="-342900">
              <a:buFont typeface="+mj-lt"/>
              <a:buAutoNum type="arabicPeriod"/>
            </a:pPr>
            <a:r>
              <a:rPr lang="en-US" dirty="0"/>
              <a:t>Qwen 2.5-7B-Instruct</a:t>
            </a:r>
          </a:p>
        </p:txBody>
      </p:sp>
    </p:spTree>
    <p:extLst>
      <p:ext uri="{BB962C8B-B14F-4D97-AF65-F5344CB8AC3E}">
        <p14:creationId xmlns:p14="http://schemas.microsoft.com/office/powerpoint/2010/main" val="3584513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DB177-8FEC-FC3C-F96D-52B4540D31FB}"/>
              </a:ext>
            </a:extLst>
          </p:cNvPr>
          <p:cNvSpPr>
            <a:spLocks noGrp="1"/>
          </p:cNvSpPr>
          <p:nvPr>
            <p:ph type="title"/>
          </p:nvPr>
        </p:nvSpPr>
        <p:spPr/>
        <p:txBody>
          <a:bodyPr/>
          <a:lstStyle/>
          <a:p>
            <a:r>
              <a:rPr lang="en-US" dirty="0"/>
              <a:t>Data - Source</a:t>
            </a:r>
          </a:p>
        </p:txBody>
      </p:sp>
      <p:sp>
        <p:nvSpPr>
          <p:cNvPr id="3" name="Content Placeholder 2">
            <a:extLst>
              <a:ext uri="{FF2B5EF4-FFF2-40B4-BE49-F238E27FC236}">
                <a16:creationId xmlns:a16="http://schemas.microsoft.com/office/drawing/2014/main" id="{859B7FE0-8E30-1A15-BAE5-4144C62AF5CE}"/>
              </a:ext>
            </a:extLst>
          </p:cNvPr>
          <p:cNvSpPr>
            <a:spLocks noGrp="1"/>
          </p:cNvSpPr>
          <p:nvPr>
            <p:ph idx="1"/>
          </p:nvPr>
        </p:nvSpPr>
        <p:spPr/>
        <p:txBody>
          <a:bodyPr>
            <a:normAutofit/>
          </a:bodyPr>
          <a:lstStyle/>
          <a:p>
            <a:r>
              <a:rPr lang="en-US" dirty="0"/>
              <a:t>Sentiment data:</a:t>
            </a:r>
          </a:p>
          <a:p>
            <a:pPr lvl="1"/>
            <a:r>
              <a:rPr lang="en-US" dirty="0" err="1"/>
              <a:t>TweetEval</a:t>
            </a:r>
            <a:r>
              <a:rPr lang="en-US" dirty="0"/>
              <a:t> – Sentiment task</a:t>
            </a:r>
          </a:p>
          <a:p>
            <a:pPr lvl="1"/>
            <a:r>
              <a:rPr lang="en-US" dirty="0"/>
              <a:t>MARC</a:t>
            </a:r>
          </a:p>
          <a:p>
            <a:pPr lvl="1"/>
            <a:r>
              <a:rPr lang="en-US" dirty="0"/>
              <a:t>Stanford Sentiment Treebank (SST-5)</a:t>
            </a:r>
          </a:p>
          <a:p>
            <a:r>
              <a:rPr lang="en-US" dirty="0"/>
              <a:t>Sarcasm data:</a:t>
            </a:r>
          </a:p>
          <a:p>
            <a:pPr lvl="1"/>
            <a:r>
              <a:rPr lang="en-US" dirty="0" err="1"/>
              <a:t>iSarcasmEval</a:t>
            </a:r>
            <a:endParaRPr lang="en-US" dirty="0"/>
          </a:p>
          <a:p>
            <a:pPr lvl="1"/>
            <a:r>
              <a:rPr lang="en-US" dirty="0" err="1"/>
              <a:t>TweetEval</a:t>
            </a:r>
            <a:r>
              <a:rPr lang="en-US" dirty="0"/>
              <a:t> – Irony Task</a:t>
            </a:r>
          </a:p>
          <a:p>
            <a:pPr lvl="1"/>
            <a:r>
              <a:rPr lang="en-US" dirty="0"/>
              <a:t>SemEval2018</a:t>
            </a:r>
          </a:p>
        </p:txBody>
      </p:sp>
    </p:spTree>
    <p:extLst>
      <p:ext uri="{BB962C8B-B14F-4D97-AF65-F5344CB8AC3E}">
        <p14:creationId xmlns:p14="http://schemas.microsoft.com/office/powerpoint/2010/main" val="3910093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99B24-C411-1942-0662-5F0287D1A67D}"/>
              </a:ext>
            </a:extLst>
          </p:cNvPr>
          <p:cNvSpPr>
            <a:spLocks noGrp="1"/>
          </p:cNvSpPr>
          <p:nvPr>
            <p:ph type="title"/>
          </p:nvPr>
        </p:nvSpPr>
        <p:spPr/>
        <p:txBody>
          <a:bodyPr/>
          <a:lstStyle/>
          <a:p>
            <a:r>
              <a:rPr lang="en-US" dirty="0"/>
              <a:t>Data - </a:t>
            </a:r>
            <a:r>
              <a:rPr lang="en-US" dirty="0" err="1"/>
              <a:t>Proprocessing</a:t>
            </a:r>
            <a:endParaRPr lang="en-US" dirty="0"/>
          </a:p>
        </p:txBody>
      </p:sp>
      <p:sp>
        <p:nvSpPr>
          <p:cNvPr id="3" name="Content Placeholder 2">
            <a:extLst>
              <a:ext uri="{FF2B5EF4-FFF2-40B4-BE49-F238E27FC236}">
                <a16:creationId xmlns:a16="http://schemas.microsoft.com/office/drawing/2014/main" id="{F8148BD1-770A-E60C-C131-9476341C7CBE}"/>
              </a:ext>
            </a:extLst>
          </p:cNvPr>
          <p:cNvSpPr>
            <a:spLocks noGrp="1"/>
          </p:cNvSpPr>
          <p:nvPr>
            <p:ph idx="1"/>
          </p:nvPr>
        </p:nvSpPr>
        <p:spPr/>
        <p:txBody>
          <a:bodyPr>
            <a:normAutofit fontScale="92500" lnSpcReduction="20000"/>
          </a:bodyPr>
          <a:lstStyle/>
          <a:p>
            <a:r>
              <a:rPr lang="en-US" dirty="0"/>
              <a:t>Language detection (English only)</a:t>
            </a:r>
          </a:p>
          <a:p>
            <a:r>
              <a:rPr lang="en-US" dirty="0"/>
              <a:t>Emoji to UTF-8</a:t>
            </a:r>
          </a:p>
          <a:p>
            <a:r>
              <a:rPr lang="en-US" dirty="0"/>
              <a:t>Short text deletion</a:t>
            </a:r>
          </a:p>
          <a:p>
            <a:pPr lvl="1"/>
            <a:r>
              <a:rPr lang="en-US" dirty="0"/>
              <a:t>Short text ratio: Sentiment: 0.0003 Sarcasm: 0.0069</a:t>
            </a:r>
          </a:p>
          <a:p>
            <a:r>
              <a:rPr lang="en-US" dirty="0"/>
              <a:t>Check and remove Nas</a:t>
            </a:r>
          </a:p>
          <a:p>
            <a:r>
              <a:rPr lang="en-US" dirty="0"/>
              <a:t>Unified label (Sentiment: 0 = neg, 1 = neu, 2 = pos; Sarcasm: 0 = non-sarcastic, 1 = sarcastic)</a:t>
            </a:r>
          </a:p>
          <a:p>
            <a:r>
              <a:rPr lang="en-US" dirty="0"/>
              <a:t>Train test split + validation subset for model evaluation</a:t>
            </a:r>
          </a:p>
          <a:p>
            <a:r>
              <a:rPr lang="en-US" dirty="0"/>
              <a:t>Duplicate data removal by </a:t>
            </a:r>
            <a:r>
              <a:rPr lang="en-US" dirty="0" err="1"/>
              <a:t>SimHash</a:t>
            </a:r>
            <a:endParaRPr lang="en-US" dirty="0"/>
          </a:p>
          <a:p>
            <a:r>
              <a:rPr lang="en-US" dirty="0"/>
              <a:t>Garbled</a:t>
            </a:r>
            <a:r>
              <a:rPr lang="zh-CN" altLang="en-US" dirty="0"/>
              <a:t> </a:t>
            </a:r>
            <a:r>
              <a:rPr lang="en-US" altLang="zh-CN" dirty="0"/>
              <a:t>data</a:t>
            </a:r>
          </a:p>
          <a:p>
            <a:pPr lvl="1"/>
            <a:r>
              <a:rPr lang="en-US" dirty="0"/>
              <a:t>Garbled rate: Sentiment: 0.0 Sarcasm: 0.001</a:t>
            </a:r>
          </a:p>
          <a:p>
            <a:endParaRPr lang="en-US" dirty="0"/>
          </a:p>
        </p:txBody>
      </p:sp>
    </p:spTree>
    <p:extLst>
      <p:ext uri="{BB962C8B-B14F-4D97-AF65-F5344CB8AC3E}">
        <p14:creationId xmlns:p14="http://schemas.microsoft.com/office/powerpoint/2010/main" val="1852083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F423-1025-2E5A-9701-8E32A330AC23}"/>
              </a:ext>
            </a:extLst>
          </p:cNvPr>
          <p:cNvSpPr>
            <a:spLocks noGrp="1"/>
          </p:cNvSpPr>
          <p:nvPr>
            <p:ph type="title"/>
          </p:nvPr>
        </p:nvSpPr>
        <p:spPr/>
        <p:txBody>
          <a:bodyPr/>
          <a:lstStyle/>
          <a:p>
            <a:r>
              <a:rPr lang="en-US" dirty="0"/>
              <a:t>Data – General Info</a:t>
            </a:r>
          </a:p>
        </p:txBody>
      </p:sp>
      <p:pic>
        <p:nvPicPr>
          <p:cNvPr id="5" name="Content Placeholder 4" descr="A screenshot of a computer&#10;&#10;AI-generated content may be incorrect.">
            <a:extLst>
              <a:ext uri="{FF2B5EF4-FFF2-40B4-BE49-F238E27FC236}">
                <a16:creationId xmlns:a16="http://schemas.microsoft.com/office/drawing/2014/main" id="{832D811F-C657-44AC-0B4B-9E54B8744BF5}"/>
              </a:ext>
            </a:extLst>
          </p:cNvPr>
          <p:cNvPicPr>
            <a:picLocks noGrp="1" noChangeAspect="1"/>
          </p:cNvPicPr>
          <p:nvPr>
            <p:ph idx="1"/>
          </p:nvPr>
        </p:nvPicPr>
        <p:blipFill>
          <a:blip r:embed="rId2"/>
          <a:stretch>
            <a:fillRect/>
          </a:stretch>
        </p:blipFill>
        <p:spPr>
          <a:xfrm>
            <a:off x="548639" y="3373255"/>
            <a:ext cx="5581714" cy="2927104"/>
          </a:xfrm>
        </p:spPr>
      </p:pic>
      <p:pic>
        <p:nvPicPr>
          <p:cNvPr id="7" name="Picture 6" descr="A screenshot of a computer&#10;&#10;AI-generated content may be incorrect.">
            <a:extLst>
              <a:ext uri="{FF2B5EF4-FFF2-40B4-BE49-F238E27FC236}">
                <a16:creationId xmlns:a16="http://schemas.microsoft.com/office/drawing/2014/main" id="{B892B5E1-1E69-0E81-E66E-232D4E54CE02}"/>
              </a:ext>
            </a:extLst>
          </p:cNvPr>
          <p:cNvPicPr>
            <a:picLocks noChangeAspect="1"/>
          </p:cNvPicPr>
          <p:nvPr/>
        </p:nvPicPr>
        <p:blipFill>
          <a:blip r:embed="rId3"/>
          <a:stretch>
            <a:fillRect/>
          </a:stretch>
        </p:blipFill>
        <p:spPr>
          <a:xfrm>
            <a:off x="6333523" y="3373255"/>
            <a:ext cx="5309838" cy="2927104"/>
          </a:xfrm>
          <a:prstGeom prst="rect">
            <a:avLst/>
          </a:prstGeom>
        </p:spPr>
      </p:pic>
      <p:sp>
        <p:nvSpPr>
          <p:cNvPr id="9" name="TextBox 8">
            <a:extLst>
              <a:ext uri="{FF2B5EF4-FFF2-40B4-BE49-F238E27FC236}">
                <a16:creationId xmlns:a16="http://schemas.microsoft.com/office/drawing/2014/main" id="{08878CCE-A09E-D69F-AC20-0A67972625CF}"/>
              </a:ext>
            </a:extLst>
          </p:cNvPr>
          <p:cNvSpPr txBox="1"/>
          <p:nvPr/>
        </p:nvSpPr>
        <p:spPr>
          <a:xfrm>
            <a:off x="1328058" y="2188028"/>
            <a:ext cx="3890809" cy="369332"/>
          </a:xfrm>
          <a:prstGeom prst="rect">
            <a:avLst/>
          </a:prstGeom>
          <a:noFill/>
        </p:spPr>
        <p:txBody>
          <a:bodyPr wrap="none" rtlCol="0">
            <a:spAutoFit/>
          </a:bodyPr>
          <a:lstStyle/>
          <a:p>
            <a:r>
              <a:rPr lang="en-US" dirty="0"/>
              <a:t>Sentiment Data General Information</a:t>
            </a:r>
          </a:p>
        </p:txBody>
      </p:sp>
      <p:sp>
        <p:nvSpPr>
          <p:cNvPr id="10" name="TextBox 9">
            <a:extLst>
              <a:ext uri="{FF2B5EF4-FFF2-40B4-BE49-F238E27FC236}">
                <a16:creationId xmlns:a16="http://schemas.microsoft.com/office/drawing/2014/main" id="{4276FA16-C5EA-2BC6-5390-837C4B30AE9E}"/>
              </a:ext>
            </a:extLst>
          </p:cNvPr>
          <p:cNvSpPr txBox="1"/>
          <p:nvPr/>
        </p:nvSpPr>
        <p:spPr>
          <a:xfrm>
            <a:off x="6803573" y="2188028"/>
            <a:ext cx="3711272" cy="369332"/>
          </a:xfrm>
          <a:prstGeom prst="rect">
            <a:avLst/>
          </a:prstGeom>
          <a:noFill/>
        </p:spPr>
        <p:txBody>
          <a:bodyPr wrap="none" rtlCol="0">
            <a:spAutoFit/>
          </a:bodyPr>
          <a:lstStyle/>
          <a:p>
            <a:r>
              <a:rPr lang="en-US" dirty="0"/>
              <a:t>Sarcasm Data General Information</a:t>
            </a:r>
          </a:p>
        </p:txBody>
      </p:sp>
    </p:spTree>
    <p:extLst>
      <p:ext uri="{BB962C8B-B14F-4D97-AF65-F5344CB8AC3E}">
        <p14:creationId xmlns:p14="http://schemas.microsoft.com/office/powerpoint/2010/main" val="2605538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462919E4-C488-4107-9EF1-66152F8480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BF79732-4088-424C-A653-4534E43894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1C4B15E1-8643-4122-BC17-9DE123491A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B6407A-B635-E68C-83B1-86F4F06C2B6F}"/>
              </a:ext>
            </a:extLst>
          </p:cNvPr>
          <p:cNvSpPr>
            <a:spLocks noGrp="1"/>
          </p:cNvSpPr>
          <p:nvPr>
            <p:ph type="title"/>
          </p:nvPr>
        </p:nvSpPr>
        <p:spPr>
          <a:xfrm>
            <a:off x="548640" y="952500"/>
            <a:ext cx="6995160" cy="1120917"/>
          </a:xfrm>
        </p:spPr>
        <p:txBody>
          <a:bodyPr vert="horz" lIns="91440" tIns="45720" rIns="91440" bIns="45720" rtlCol="0" anchor="t">
            <a:normAutofit/>
          </a:bodyPr>
          <a:lstStyle/>
          <a:p>
            <a:r>
              <a:rPr lang="en-US" dirty="0"/>
              <a:t>Data – Label Distribution</a:t>
            </a:r>
          </a:p>
        </p:txBody>
      </p:sp>
      <p:sp>
        <p:nvSpPr>
          <p:cNvPr id="8" name="TextBox 7">
            <a:extLst>
              <a:ext uri="{FF2B5EF4-FFF2-40B4-BE49-F238E27FC236}">
                <a16:creationId xmlns:a16="http://schemas.microsoft.com/office/drawing/2014/main" id="{C0C0E737-A7D8-532D-20AF-27BEE9F757D8}"/>
              </a:ext>
            </a:extLst>
          </p:cNvPr>
          <p:cNvSpPr txBox="1"/>
          <p:nvPr/>
        </p:nvSpPr>
        <p:spPr>
          <a:xfrm>
            <a:off x="6246803" y="952500"/>
            <a:ext cx="5301730" cy="1503425"/>
          </a:xfrm>
          <a:prstGeom prst="rect">
            <a:avLst/>
          </a:prstGeom>
        </p:spPr>
        <p:txBody>
          <a:bodyPr vert="horz" lIns="91440" tIns="45720" rIns="91440" bIns="45720" rtlCol="0" anchor="t">
            <a:normAutofit fontScale="92500" lnSpcReduction="10000"/>
          </a:bodyPr>
          <a:lstStyle/>
          <a:p>
            <a:pPr>
              <a:lnSpc>
                <a:spcPct val="120000"/>
              </a:lnSpc>
              <a:spcBef>
                <a:spcPts val="1000"/>
              </a:spcBef>
            </a:pPr>
            <a:r>
              <a:rPr lang="en-US" sz="2000" dirty="0"/>
              <a:t>Problem: Class Imbalance and Distribution Shift</a:t>
            </a:r>
          </a:p>
          <a:p>
            <a:pPr>
              <a:lnSpc>
                <a:spcPct val="120000"/>
              </a:lnSpc>
              <a:spcBef>
                <a:spcPts val="1000"/>
              </a:spcBef>
            </a:pPr>
            <a:r>
              <a:rPr lang="en-US" sz="2000" dirty="0"/>
              <a:t>We use stratified sampling to solve this problem, split the data into different groups by (source, label)</a:t>
            </a:r>
          </a:p>
        </p:txBody>
      </p:sp>
      <p:cxnSp>
        <p:nvCxnSpPr>
          <p:cNvPr id="31" name="Straight Connector 30">
            <a:extLst>
              <a:ext uri="{FF2B5EF4-FFF2-40B4-BE49-F238E27FC236}">
                <a16:creationId xmlns:a16="http://schemas.microsoft.com/office/drawing/2014/main" id="{201D576B-3782-47A1-8847-9E731C48B6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7" name="Picture 6" descr="A graph with blue and orange bars&#10;&#10;AI-generated content may be incorrect.">
            <a:extLst>
              <a:ext uri="{FF2B5EF4-FFF2-40B4-BE49-F238E27FC236}">
                <a16:creationId xmlns:a16="http://schemas.microsoft.com/office/drawing/2014/main" id="{F00F535A-5578-BD5E-B883-CD0E1879F479}"/>
              </a:ext>
            </a:extLst>
          </p:cNvPr>
          <p:cNvPicPr>
            <a:picLocks noChangeAspect="1"/>
          </p:cNvPicPr>
          <p:nvPr/>
        </p:nvPicPr>
        <p:blipFill>
          <a:blip r:embed="rId2"/>
          <a:srcRect t="13223" r="-2" b="28055"/>
          <a:stretch>
            <a:fillRect/>
          </a:stretch>
        </p:blipFill>
        <p:spPr>
          <a:xfrm>
            <a:off x="5052837" y="2643640"/>
            <a:ext cx="6482361" cy="3349754"/>
          </a:xfrm>
          <a:prstGeom prst="rect">
            <a:avLst/>
          </a:prstGeom>
        </p:spPr>
      </p:pic>
      <p:pic>
        <p:nvPicPr>
          <p:cNvPr id="5" name="Content Placeholder 4" descr="A graph with different colored bars&#10;&#10;AI-generated content may be incorrect.">
            <a:extLst>
              <a:ext uri="{FF2B5EF4-FFF2-40B4-BE49-F238E27FC236}">
                <a16:creationId xmlns:a16="http://schemas.microsoft.com/office/drawing/2014/main" id="{A5DDDD40-A6DC-5DFD-4972-9EFD07EFDE04}"/>
              </a:ext>
            </a:extLst>
          </p:cNvPr>
          <p:cNvPicPr>
            <a:picLocks noGrp="1" noChangeAspect="1"/>
          </p:cNvPicPr>
          <p:nvPr>
            <p:ph idx="1"/>
          </p:nvPr>
        </p:nvPicPr>
        <p:blipFill>
          <a:blip r:embed="rId3"/>
          <a:srcRect l="11350" r="3443" b="-2"/>
          <a:stretch>
            <a:fillRect/>
          </a:stretch>
        </p:blipFill>
        <p:spPr>
          <a:xfrm>
            <a:off x="615407" y="1512958"/>
            <a:ext cx="4271672" cy="4699981"/>
          </a:xfrm>
          <a:prstGeom prst="rect">
            <a:avLst/>
          </a:prstGeom>
        </p:spPr>
      </p:pic>
      <p:cxnSp>
        <p:nvCxnSpPr>
          <p:cNvPr id="33" name="Straight Connector 32">
            <a:extLst>
              <a:ext uri="{FF2B5EF4-FFF2-40B4-BE49-F238E27FC236}">
                <a16:creationId xmlns:a16="http://schemas.microsoft.com/office/drawing/2014/main" id="{A14FB581-6A58-4B43-8121-6AA1567AC8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327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462919E4-C488-4107-9EF1-66152F8480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BF79732-4088-424C-A653-4534E43894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1C4B15E1-8643-4122-BC17-9DE123491A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A4450C-C2E7-21A7-2C9B-736CE711FCA6}"/>
              </a:ext>
            </a:extLst>
          </p:cNvPr>
          <p:cNvSpPr>
            <a:spLocks noGrp="1"/>
          </p:cNvSpPr>
          <p:nvPr>
            <p:ph type="title"/>
          </p:nvPr>
        </p:nvSpPr>
        <p:spPr>
          <a:xfrm>
            <a:off x="548640" y="952499"/>
            <a:ext cx="6419719" cy="1623787"/>
          </a:xfrm>
        </p:spPr>
        <p:txBody>
          <a:bodyPr vert="horz" lIns="91440" tIns="45720" rIns="91440" bIns="45720" rtlCol="0" anchor="t">
            <a:normAutofit/>
          </a:bodyPr>
          <a:lstStyle/>
          <a:p>
            <a:r>
              <a:rPr lang="en-US" dirty="0"/>
              <a:t>Data – Token Length</a:t>
            </a:r>
          </a:p>
        </p:txBody>
      </p:sp>
      <p:cxnSp>
        <p:nvCxnSpPr>
          <p:cNvPr id="31" name="Straight Connector 30">
            <a:extLst>
              <a:ext uri="{FF2B5EF4-FFF2-40B4-BE49-F238E27FC236}">
                <a16:creationId xmlns:a16="http://schemas.microsoft.com/office/drawing/2014/main" id="{201D576B-3782-47A1-8847-9E731C48B6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5" name="Picture 14" descr="A graph of a graph showing a number of different sizes of objects&#10;&#10;AI-generated content may be incorrect.">
            <a:extLst>
              <a:ext uri="{FF2B5EF4-FFF2-40B4-BE49-F238E27FC236}">
                <a16:creationId xmlns:a16="http://schemas.microsoft.com/office/drawing/2014/main" id="{68CA5885-21B4-14D4-FB97-FCDCF5631064}"/>
              </a:ext>
            </a:extLst>
          </p:cNvPr>
          <p:cNvPicPr>
            <a:picLocks noChangeAspect="1"/>
          </p:cNvPicPr>
          <p:nvPr/>
        </p:nvPicPr>
        <p:blipFill>
          <a:blip r:embed="rId2"/>
          <a:stretch>
            <a:fillRect/>
          </a:stretch>
        </p:blipFill>
        <p:spPr>
          <a:xfrm>
            <a:off x="6188865" y="1709573"/>
            <a:ext cx="5303521" cy="2943454"/>
          </a:xfrm>
          <a:prstGeom prst="rect">
            <a:avLst/>
          </a:prstGeom>
        </p:spPr>
      </p:pic>
      <p:pic>
        <p:nvPicPr>
          <p:cNvPr id="11" name="Content Placeholder 10" descr="A graph of a graph showing a number of different sizes of objects&#10;&#10;AI-generated content may be incorrect.">
            <a:extLst>
              <a:ext uri="{FF2B5EF4-FFF2-40B4-BE49-F238E27FC236}">
                <a16:creationId xmlns:a16="http://schemas.microsoft.com/office/drawing/2014/main" id="{D3B3887F-4AF0-BD49-7F03-9A9146A64D7D}"/>
              </a:ext>
            </a:extLst>
          </p:cNvPr>
          <p:cNvPicPr>
            <a:picLocks noGrp="1" noChangeAspect="1"/>
          </p:cNvPicPr>
          <p:nvPr>
            <p:ph idx="1"/>
          </p:nvPr>
        </p:nvPicPr>
        <p:blipFill>
          <a:blip r:embed="rId3"/>
          <a:stretch>
            <a:fillRect/>
          </a:stretch>
        </p:blipFill>
        <p:spPr>
          <a:xfrm>
            <a:off x="548640" y="1625781"/>
            <a:ext cx="5454497" cy="3027246"/>
          </a:xfrm>
          <a:prstGeom prst="rect">
            <a:avLst/>
          </a:prstGeom>
        </p:spPr>
      </p:pic>
      <p:cxnSp>
        <p:nvCxnSpPr>
          <p:cNvPr id="33" name="Straight Connector 32">
            <a:extLst>
              <a:ext uri="{FF2B5EF4-FFF2-40B4-BE49-F238E27FC236}">
                <a16:creationId xmlns:a16="http://schemas.microsoft.com/office/drawing/2014/main" id="{A14FB581-6A58-4B43-8121-6AA1567AC8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0E4016E-4EAE-CD39-C56E-2D03AB55DA60}"/>
              </a:ext>
            </a:extLst>
          </p:cNvPr>
          <p:cNvSpPr txBox="1"/>
          <p:nvPr/>
        </p:nvSpPr>
        <p:spPr>
          <a:xfrm>
            <a:off x="796705" y="4861710"/>
            <a:ext cx="5454497" cy="923330"/>
          </a:xfrm>
          <a:prstGeom prst="rect">
            <a:avLst/>
          </a:prstGeom>
          <a:noFill/>
        </p:spPr>
        <p:txBody>
          <a:bodyPr wrap="square" rtlCol="0">
            <a:spAutoFit/>
          </a:bodyPr>
          <a:lstStyle/>
          <a:p>
            <a:r>
              <a:rPr lang="en-US" dirty="0"/>
              <a:t>Based on the token-length distribution and hardware </a:t>
            </a:r>
            <a:r>
              <a:rPr lang="en-US" dirty="0" err="1"/>
              <a:t>constraits</a:t>
            </a:r>
            <a:r>
              <a:rPr lang="en-US" dirty="0"/>
              <a:t>, we decided to set the training maximum sequence length at 128 tokens.</a:t>
            </a:r>
          </a:p>
        </p:txBody>
      </p:sp>
    </p:spTree>
    <p:extLst>
      <p:ext uri="{BB962C8B-B14F-4D97-AF65-F5344CB8AC3E}">
        <p14:creationId xmlns:p14="http://schemas.microsoft.com/office/powerpoint/2010/main" val="784449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462919E4-C488-4107-9EF1-66152F8480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BF79732-4088-424C-A653-4534E43894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1C4B15E1-8643-4122-BC17-9DE123491A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E1F16E-80B3-536C-CDC6-034A5AA62DF0}"/>
              </a:ext>
            </a:extLst>
          </p:cNvPr>
          <p:cNvSpPr>
            <a:spLocks noGrp="1"/>
          </p:cNvSpPr>
          <p:nvPr>
            <p:ph type="title"/>
          </p:nvPr>
        </p:nvSpPr>
        <p:spPr>
          <a:xfrm>
            <a:off x="548640" y="952499"/>
            <a:ext cx="6419719" cy="1623787"/>
          </a:xfrm>
        </p:spPr>
        <p:txBody>
          <a:bodyPr vert="horz" lIns="91440" tIns="45720" rIns="91440" bIns="45720" rtlCol="0" anchor="t">
            <a:normAutofit/>
          </a:bodyPr>
          <a:lstStyle/>
          <a:p>
            <a:r>
              <a:rPr lang="en-US" dirty="0"/>
              <a:t>Data – Word Frequency Long Tail Distribution</a:t>
            </a:r>
          </a:p>
        </p:txBody>
      </p:sp>
      <p:cxnSp>
        <p:nvCxnSpPr>
          <p:cNvPr id="18" name="Straight Connector 17">
            <a:extLst>
              <a:ext uri="{FF2B5EF4-FFF2-40B4-BE49-F238E27FC236}">
                <a16:creationId xmlns:a16="http://schemas.microsoft.com/office/drawing/2014/main" id="{201D576B-3782-47A1-8847-9E731C48B6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7" name="Picture 6" descr="A graph of a word frequency&#10;&#10;AI-generated content may be incorrect.">
            <a:extLst>
              <a:ext uri="{FF2B5EF4-FFF2-40B4-BE49-F238E27FC236}">
                <a16:creationId xmlns:a16="http://schemas.microsoft.com/office/drawing/2014/main" id="{8273CEF3-43C2-23BC-2B4A-35EFD50D9F18}"/>
              </a:ext>
            </a:extLst>
          </p:cNvPr>
          <p:cNvPicPr>
            <a:picLocks noChangeAspect="1"/>
          </p:cNvPicPr>
          <p:nvPr/>
        </p:nvPicPr>
        <p:blipFill>
          <a:blip r:embed="rId2"/>
          <a:stretch>
            <a:fillRect/>
          </a:stretch>
        </p:blipFill>
        <p:spPr>
          <a:xfrm>
            <a:off x="6096000" y="1764392"/>
            <a:ext cx="5162939" cy="3162300"/>
          </a:xfrm>
          <a:prstGeom prst="rect">
            <a:avLst/>
          </a:prstGeom>
        </p:spPr>
      </p:pic>
      <p:pic>
        <p:nvPicPr>
          <p:cNvPr id="5" name="Content Placeholder 4" descr="A graph with a bar graph&#10;&#10;AI-generated content may be incorrect.">
            <a:extLst>
              <a:ext uri="{FF2B5EF4-FFF2-40B4-BE49-F238E27FC236}">
                <a16:creationId xmlns:a16="http://schemas.microsoft.com/office/drawing/2014/main" id="{34BB326D-A1D1-64DB-111D-D8E207F82F25}"/>
              </a:ext>
            </a:extLst>
          </p:cNvPr>
          <p:cNvPicPr>
            <a:picLocks noGrp="1" noChangeAspect="1"/>
          </p:cNvPicPr>
          <p:nvPr>
            <p:ph idx="1"/>
          </p:nvPr>
        </p:nvPicPr>
        <p:blipFill>
          <a:blip r:embed="rId3"/>
          <a:stretch>
            <a:fillRect/>
          </a:stretch>
        </p:blipFill>
        <p:spPr>
          <a:xfrm>
            <a:off x="548640" y="1847850"/>
            <a:ext cx="5162939" cy="3162300"/>
          </a:xfrm>
          <a:prstGeom prst="rect">
            <a:avLst/>
          </a:prstGeom>
        </p:spPr>
      </p:pic>
      <p:cxnSp>
        <p:nvCxnSpPr>
          <p:cNvPr id="20" name="Straight Connector 19">
            <a:extLst>
              <a:ext uri="{FF2B5EF4-FFF2-40B4-BE49-F238E27FC236}">
                <a16:creationId xmlns:a16="http://schemas.microsoft.com/office/drawing/2014/main" id="{A14FB581-6A58-4B43-8121-6AA1567AC8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3C05B4A-1817-7031-EBD0-F11C448E2980}"/>
              </a:ext>
            </a:extLst>
          </p:cNvPr>
          <p:cNvSpPr txBox="1"/>
          <p:nvPr/>
        </p:nvSpPr>
        <p:spPr>
          <a:xfrm>
            <a:off x="643467" y="4901221"/>
            <a:ext cx="10615471" cy="1477328"/>
          </a:xfrm>
          <a:prstGeom prst="rect">
            <a:avLst/>
          </a:prstGeom>
          <a:noFill/>
        </p:spPr>
        <p:txBody>
          <a:bodyPr wrap="square" rtlCol="0">
            <a:spAutoFit/>
          </a:bodyPr>
          <a:lstStyle/>
          <a:p>
            <a:r>
              <a:rPr lang="en-US" dirty="0"/>
              <a:t>Problem: Long-tail word frequency leads to sparsity and memorization, poor cross-domain generalization, noisy tokenization, and inefficient memory usage.</a:t>
            </a:r>
          </a:p>
          <a:p>
            <a:r>
              <a:rPr lang="en-US" dirty="0"/>
              <a:t>To solve the problem of long tail distribution, we decided to split hashtags into words by Camel Case Segment (“#</a:t>
            </a:r>
            <a:r>
              <a:rPr lang="en-US" dirty="0" err="1"/>
              <a:t>HappyBirthdaySomeGuy</a:t>
            </a:r>
            <a:r>
              <a:rPr lang="en-US" dirty="0"/>
              <a:t>” -&gt; “happy birthday some guy”); Replace all @</a:t>
            </a:r>
            <a:r>
              <a:rPr lang="en-US" dirty="0" err="1"/>
              <a:t>SomeUser</a:t>
            </a:r>
            <a:r>
              <a:rPr lang="en-US" dirty="0"/>
              <a:t> -&gt; &lt;USER&gt;, all </a:t>
            </a:r>
            <a:r>
              <a:rPr lang="en-US" dirty="0" err="1"/>
              <a:t>url</a:t>
            </a:r>
            <a:r>
              <a:rPr lang="en-US" dirty="0"/>
              <a:t> -&gt; &lt;URL&gt;, and add those special tokens to tokenizer.</a:t>
            </a:r>
          </a:p>
        </p:txBody>
      </p:sp>
    </p:spTree>
    <p:extLst>
      <p:ext uri="{BB962C8B-B14F-4D97-AF65-F5344CB8AC3E}">
        <p14:creationId xmlns:p14="http://schemas.microsoft.com/office/powerpoint/2010/main" val="4094116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1F6F-998A-4CE7-7D13-497844E574ED}"/>
              </a:ext>
            </a:extLst>
          </p:cNvPr>
          <p:cNvSpPr>
            <a:spLocks noGrp="1"/>
          </p:cNvSpPr>
          <p:nvPr>
            <p:ph type="title"/>
          </p:nvPr>
        </p:nvSpPr>
        <p:spPr/>
        <p:txBody>
          <a:bodyPr/>
          <a:lstStyle/>
          <a:p>
            <a:r>
              <a:rPr lang="en-US" dirty="0" err="1"/>
              <a:t>Methology</a:t>
            </a:r>
            <a:r>
              <a:rPr lang="en-US" dirty="0"/>
              <a:t> – Stage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4A390C-484A-14E3-1357-F127C25AE26D}"/>
                  </a:ext>
                </a:extLst>
              </p:cNvPr>
              <p:cNvSpPr>
                <a:spLocks noGrp="1"/>
              </p:cNvSpPr>
              <p:nvPr>
                <p:ph idx="1"/>
              </p:nvPr>
            </p:nvSpPr>
            <p:spPr/>
            <p:txBody>
              <a:bodyPr>
                <a:normAutofit fontScale="85000" lnSpcReduction="10000"/>
              </a:bodyPr>
              <a:lstStyle/>
              <a:p>
                <a:r>
                  <a:rPr lang="en-US" dirty="0"/>
                  <a:t>Task</a:t>
                </a:r>
                <a:r>
                  <a:rPr lang="zh-CN" altLang="en-US" dirty="0"/>
                  <a:t> </a:t>
                </a:r>
                <a:r>
                  <a:rPr lang="en-US" altLang="zh-CN" dirty="0"/>
                  <a:t>&amp;</a:t>
                </a:r>
                <a:r>
                  <a:rPr lang="zh-CN" altLang="en-US" dirty="0"/>
                  <a:t> </a:t>
                </a:r>
                <a:r>
                  <a:rPr lang="en-US" altLang="zh-CN" dirty="0"/>
                  <a:t>Output: Single label 3-class sentiment: 0=neg, 1=neu, 2=pos.</a:t>
                </a:r>
                <a:endParaRPr lang="en-US" dirty="0"/>
              </a:p>
              <a:p>
                <a:r>
                  <a:rPr lang="en-US" b="1" dirty="0"/>
                  <a:t>Architecture: Freeze all base model original weights </a:t>
                </a:r>
                <a14:m>
                  <m:oMath xmlns:m="http://schemas.openxmlformats.org/officeDocument/2006/math">
                    <m:r>
                      <a:rPr lang="en-US" b="1" i="1" smtClean="0">
                        <a:latin typeface="Cambria Math" panose="02040503050406030204" pitchFamily="18" charset="0"/>
                      </a:rPr>
                      <m:t>𝑾</m:t>
                    </m:r>
                  </m:oMath>
                </a14:m>
                <a:r>
                  <a:rPr lang="en-US" b="1" dirty="0"/>
                  <a:t>, only train two low rank weights </a:t>
                </a:r>
                <a14:m>
                  <m:oMath xmlns:m="http://schemas.openxmlformats.org/officeDocument/2006/math">
                    <m:r>
                      <a:rPr lang="en-US" b="1" i="1" smtClean="0">
                        <a:latin typeface="Cambria Math" panose="02040503050406030204" pitchFamily="18" charset="0"/>
                      </a:rPr>
                      <m:t>𝑨</m:t>
                    </m:r>
                    <m:r>
                      <a:rPr lang="en-US" b="1" i="1" smtClean="0">
                        <a:latin typeface="Cambria Math" panose="02040503050406030204" pitchFamily="18" charset="0"/>
                      </a:rPr>
                      <m:t>&amp;</m:t>
                    </m:r>
                    <m:r>
                      <a:rPr lang="en-US" b="1" i="1" smtClean="0">
                        <a:latin typeface="Cambria Math" panose="02040503050406030204" pitchFamily="18" charset="0"/>
                      </a:rPr>
                      <m:t>𝑩</m:t>
                    </m:r>
                  </m:oMath>
                </a14:m>
                <a:r>
                  <a:rPr lang="en-US" b="1" dirty="0"/>
                  <a:t>, where </a:t>
                </a:r>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𝑾</m:t>
                        </m:r>
                      </m:e>
                      <m:sup>
                        <m:r>
                          <a:rPr lang="en-US" b="1" i="1" smtClean="0">
                            <a:latin typeface="Cambria Math" panose="02040503050406030204" pitchFamily="18" charset="0"/>
                          </a:rPr>
                          <m:t>′</m:t>
                        </m:r>
                      </m:sup>
                    </m:sSup>
                    <m:r>
                      <a:rPr lang="en-US" b="1" i="1" smtClean="0">
                        <a:latin typeface="Cambria Math" panose="02040503050406030204" pitchFamily="18" charset="0"/>
                      </a:rPr>
                      <m:t>=</m:t>
                    </m:r>
                    <m:r>
                      <a:rPr lang="en-US" b="1" i="1" smtClean="0">
                        <a:latin typeface="Cambria Math" panose="02040503050406030204" pitchFamily="18" charset="0"/>
                      </a:rPr>
                      <m:t>𝑾</m:t>
                    </m:r>
                    <m:r>
                      <a:rPr lang="en-US" b="1" i="1" smtClean="0">
                        <a:latin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𝑾</m:t>
                    </m:r>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𝑾</m:t>
                    </m:r>
                    <m:r>
                      <a:rPr lang="en-US" b="1" i="1" smtClean="0">
                        <a:latin typeface="Cambria Math" panose="02040503050406030204" pitchFamily="18" charset="0"/>
                        <a:ea typeface="Cambria Math" panose="02040503050406030204" pitchFamily="18" charset="0"/>
                      </a:rPr>
                      <m:t>=</m:t>
                    </m:r>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𝜶</m:t>
                        </m:r>
                      </m:num>
                      <m:den>
                        <m:r>
                          <a:rPr lang="en-US" b="1" i="1" smtClean="0">
                            <a:latin typeface="Cambria Math" panose="02040503050406030204" pitchFamily="18" charset="0"/>
                            <a:ea typeface="Cambria Math" panose="02040503050406030204" pitchFamily="18" charset="0"/>
                          </a:rPr>
                          <m:t>𝒓</m:t>
                        </m:r>
                      </m:den>
                    </m:f>
                    <m:r>
                      <a:rPr lang="en-US" b="1" i="1" smtClean="0">
                        <a:latin typeface="Cambria Math" panose="02040503050406030204" pitchFamily="18" charset="0"/>
                        <a:ea typeface="Cambria Math" panose="02040503050406030204" pitchFamily="18" charset="0"/>
                      </a:rPr>
                      <m:t>𝑩𝑨</m:t>
                    </m:r>
                  </m:oMath>
                </a14:m>
                <a:r>
                  <a:rPr lang="en-US" b="1" dirty="0"/>
                  <a:t>(where alpha is the scale factor and r is the rank) and a 3-way classification head.</a:t>
                </a:r>
              </a:p>
              <a:p>
                <a:pPr marL="617220" lvl="1" indent="-342900">
                  <a:buFont typeface="+mj-lt"/>
                  <a:buAutoNum type="arabicPeriod"/>
                </a:pPr>
                <a:r>
                  <a:rPr lang="en-US" dirty="0"/>
                  <a:t>Input a stratified subset (source * label) drawn from the training pool (254,149 samples), balanced across sources and classes.</a:t>
                </a:r>
              </a:p>
              <a:p>
                <a:pPr marL="617220" lvl="1" indent="-342900">
                  <a:buFont typeface="+mj-lt"/>
                  <a:buAutoNum type="arabicPeriod"/>
                </a:pPr>
                <a:r>
                  <a:rPr lang="en-US" dirty="0"/>
                  <a:t>Loss: Cross-Entropy</a:t>
                </a:r>
              </a:p>
              <a:p>
                <a:pPr marL="617220" lvl="1" indent="-342900">
                  <a:buFont typeface="+mj-lt"/>
                  <a:buAutoNum type="arabicPeriod"/>
                </a:pPr>
                <a:r>
                  <a:rPr lang="en-US" dirty="0"/>
                  <a:t>Model evaluation by accuracy, macro-F1, and confusion matrix for sentiment task only.</a:t>
                </a:r>
              </a:p>
              <a:p>
                <a:r>
                  <a:rPr lang="en-US" altLang="zh-CN" dirty="0"/>
                  <a:t>3-way classification head is a linear layer that connected with the base foundation model. It’s task is ‘single label classification’.</a:t>
                </a:r>
              </a:p>
              <a:p>
                <a:pPr marL="0" indent="0">
                  <a:buNone/>
                </a:pPr>
                <a:r>
                  <a:rPr lang="en-US" dirty="0"/>
                  <a:t># Lora provides domain adaptation while keeping the foundation model’s knowledge complete. A single 3-way head learns the prob distribution of each class by LLM’s final vector representations.</a:t>
                </a:r>
              </a:p>
            </p:txBody>
          </p:sp>
        </mc:Choice>
        <mc:Fallback xmlns="">
          <p:sp>
            <p:nvSpPr>
              <p:cNvPr id="3" name="Content Placeholder 2">
                <a:extLst>
                  <a:ext uri="{FF2B5EF4-FFF2-40B4-BE49-F238E27FC236}">
                    <a16:creationId xmlns:a16="http://schemas.microsoft.com/office/drawing/2014/main" id="{E84A390C-484A-14E3-1357-F127C25AE26D}"/>
                  </a:ext>
                </a:extLst>
              </p:cNvPr>
              <p:cNvSpPr>
                <a:spLocks noGrp="1" noRot="1" noChangeAspect="1" noMove="1" noResize="1" noEditPoints="1" noAdjustHandles="1" noChangeArrowheads="1" noChangeShapeType="1" noTextEdit="1"/>
              </p:cNvSpPr>
              <p:nvPr>
                <p:ph idx="1"/>
              </p:nvPr>
            </p:nvSpPr>
            <p:spPr>
              <a:blipFill>
                <a:blip r:embed="rId2"/>
                <a:stretch>
                  <a:fillRect l="-346" t="-313"/>
                </a:stretch>
              </a:blipFill>
            </p:spPr>
            <p:txBody>
              <a:bodyPr/>
              <a:lstStyle/>
              <a:p>
                <a:r>
                  <a:rPr lang="en-US">
                    <a:noFill/>
                  </a:rPr>
                  <a:t> </a:t>
                </a:r>
              </a:p>
            </p:txBody>
          </p:sp>
        </mc:Fallback>
      </mc:AlternateContent>
    </p:spTree>
    <p:extLst>
      <p:ext uri="{BB962C8B-B14F-4D97-AF65-F5344CB8AC3E}">
        <p14:creationId xmlns:p14="http://schemas.microsoft.com/office/powerpoint/2010/main" val="2043605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30296-7B2D-6DDC-71F5-E19F74FCD45A}"/>
              </a:ext>
            </a:extLst>
          </p:cNvPr>
          <p:cNvSpPr>
            <a:spLocks noGrp="1"/>
          </p:cNvSpPr>
          <p:nvPr>
            <p:ph type="title"/>
          </p:nvPr>
        </p:nvSpPr>
        <p:spPr/>
        <p:txBody>
          <a:bodyPr/>
          <a:lstStyle/>
          <a:p>
            <a:r>
              <a:rPr lang="en-US" dirty="0" err="1"/>
              <a:t>Methology</a:t>
            </a:r>
            <a:r>
              <a:rPr lang="en-US" dirty="0"/>
              <a:t> – Stage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FA134C-2B05-0548-CC51-A5AE092EDEC5}"/>
                  </a:ext>
                </a:extLst>
              </p:cNvPr>
              <p:cNvSpPr>
                <a:spLocks noGrp="1"/>
              </p:cNvSpPr>
              <p:nvPr>
                <p:ph idx="1"/>
              </p:nvPr>
            </p:nvSpPr>
            <p:spPr/>
            <p:txBody>
              <a:bodyPr/>
              <a:lstStyle/>
              <a:p>
                <a:r>
                  <a:rPr lang="en-US" dirty="0"/>
                  <a:t>Multi-task Fine-tuning (Sentiment + Sarcasm)</a:t>
                </a:r>
              </a:p>
              <a:p>
                <a:pPr lvl="1"/>
                <a:r>
                  <a:rPr lang="en-US" dirty="0"/>
                  <a:t>Keep the 3-way sentiment head (0/1/2) and add a binary sarcasm head (0 = non-sarcastic, 1 = sarcastic)</a:t>
                </a:r>
              </a:p>
              <a:p>
                <a:pPr lvl="1"/>
                <a:r>
                  <a:rPr lang="en-US" dirty="0"/>
                  <a:t>Freeze all base weight </a:t>
                </a:r>
                <a14:m>
                  <m:oMath xmlns:m="http://schemas.openxmlformats.org/officeDocument/2006/math">
                    <m:r>
                      <a:rPr lang="en-US" b="1" i="1">
                        <a:latin typeface="Cambria Math" panose="02040503050406030204" pitchFamily="18" charset="0"/>
                      </a:rPr>
                      <m:t>𝑾</m:t>
                    </m:r>
                  </m:oMath>
                </a14:m>
                <a:r>
                  <a:rPr lang="en-US" dirty="0"/>
                  <a:t>, continue training the same </a:t>
                </a:r>
                <a:r>
                  <a:rPr lang="en-US" dirty="0" err="1"/>
                  <a:t>LoRA</a:t>
                </a:r>
                <a:r>
                  <a:rPr lang="en-US" dirty="0"/>
                  <a:t> adapters from stage 1.</a:t>
                </a:r>
              </a:p>
              <a:p>
                <a:pPr lvl="1"/>
                <a:r>
                  <a:rPr lang="en-US" dirty="0"/>
                  <a:t>Mix all sarcasm data with a replay subset of sentiment data.</a:t>
                </a:r>
              </a:p>
              <a:p>
                <a:pPr lvl="1"/>
                <a:r>
                  <a:rPr lang="en-US" dirty="0"/>
                  <a:t>Loss: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𝐶𝐸</m:t>
                        </m:r>
                      </m:e>
                      <m:sub>
                        <m:r>
                          <a:rPr lang="en-US" b="0" i="1" smtClean="0">
                            <a:latin typeface="Cambria Math" panose="02040503050406030204" pitchFamily="18" charset="0"/>
                          </a:rPr>
                          <m:t>𝑠𝑎𝑟𝑐</m:t>
                        </m:r>
                      </m:sub>
                    </m:sSub>
                    <m:r>
                      <a:rPr lang="en-US" b="0"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𝜆</m:t>
                    </m:r>
                    <m:sSub>
                      <m:sSubPr>
                        <m:ctrlPr>
                          <a:rPr lang="en-US" i="1">
                            <a:latin typeface="Cambria Math" panose="02040503050406030204" pitchFamily="18" charset="0"/>
                          </a:rPr>
                        </m:ctrlPr>
                      </m:sSubPr>
                      <m:e>
                        <m:r>
                          <a:rPr lang="en-US" i="1">
                            <a:latin typeface="Cambria Math" panose="02040503050406030204" pitchFamily="18" charset="0"/>
                          </a:rPr>
                          <m:t>𝐶𝐸</m:t>
                        </m:r>
                      </m:e>
                      <m:sub>
                        <m:r>
                          <a:rPr lang="en-US" b="0" i="1" smtClean="0">
                            <a:latin typeface="Cambria Math" panose="02040503050406030204" pitchFamily="18" charset="0"/>
                          </a:rPr>
                          <m:t>𝑠𝑒𝑛𝑡</m:t>
                        </m:r>
                      </m:sub>
                    </m:sSub>
                  </m:oMath>
                </a14:m>
                <a:r>
                  <a:rPr lang="en-US" dirty="0"/>
                  <a:t>, where </a:t>
                </a:r>
                <a14:m>
                  <m:oMath xmlns:m="http://schemas.openxmlformats.org/officeDocument/2006/math">
                    <m:r>
                      <a:rPr lang="en-US" i="1">
                        <a:latin typeface="Cambria Math" panose="02040503050406030204" pitchFamily="18" charset="0"/>
                        <a:ea typeface="Cambria Math" panose="02040503050406030204" pitchFamily="18" charset="0"/>
                      </a:rPr>
                      <m:t>𝜆</m:t>
                    </m:r>
                  </m:oMath>
                </a14:m>
                <a:r>
                  <a:rPr lang="en-US" dirty="0"/>
                  <a:t> is the loss weight.</a:t>
                </a:r>
              </a:p>
              <a:p>
                <a:pPr lvl="1"/>
                <a:r>
                  <a:rPr lang="en-US" dirty="0"/>
                  <a:t>Model evaluation by accuracy, macro-F1, and confusion matrix for both task.</a:t>
                </a:r>
              </a:p>
            </p:txBody>
          </p:sp>
        </mc:Choice>
        <mc:Fallback xmlns="">
          <p:sp>
            <p:nvSpPr>
              <p:cNvPr id="3" name="Content Placeholder 2">
                <a:extLst>
                  <a:ext uri="{FF2B5EF4-FFF2-40B4-BE49-F238E27FC236}">
                    <a16:creationId xmlns:a16="http://schemas.microsoft.com/office/drawing/2014/main" id="{DFFA134C-2B05-0548-CC51-A5AE092EDEC5}"/>
                  </a:ext>
                </a:extLst>
              </p:cNvPr>
              <p:cNvSpPr>
                <a:spLocks noGrp="1" noRot="1" noChangeAspect="1" noMove="1" noResize="1" noEditPoints="1" noAdjustHandles="1" noChangeArrowheads="1" noChangeShapeType="1" noTextEdit="1"/>
              </p:cNvSpPr>
              <p:nvPr>
                <p:ph idx="1"/>
              </p:nvPr>
            </p:nvSpPr>
            <p:spPr>
              <a:blipFill>
                <a:blip r:embed="rId2"/>
                <a:stretch>
                  <a:fillRect l="-461"/>
                </a:stretch>
              </a:blipFill>
            </p:spPr>
            <p:txBody>
              <a:bodyPr/>
              <a:lstStyle/>
              <a:p>
                <a:r>
                  <a:rPr lang="en-US">
                    <a:noFill/>
                  </a:rPr>
                  <a:t> </a:t>
                </a:r>
              </a:p>
            </p:txBody>
          </p:sp>
        </mc:Fallback>
      </mc:AlternateContent>
    </p:spTree>
    <p:extLst>
      <p:ext uri="{BB962C8B-B14F-4D97-AF65-F5344CB8AC3E}">
        <p14:creationId xmlns:p14="http://schemas.microsoft.com/office/powerpoint/2010/main" val="3385487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F24C7-1D2A-87A0-7377-D49B73D5E253}"/>
              </a:ext>
            </a:extLst>
          </p:cNvPr>
          <p:cNvSpPr>
            <a:spLocks noGrp="1"/>
          </p:cNvSpPr>
          <p:nvPr>
            <p:ph type="title"/>
          </p:nvPr>
        </p:nvSpPr>
        <p:spPr/>
        <p:txBody>
          <a:bodyPr/>
          <a:lstStyle/>
          <a:p>
            <a:r>
              <a:rPr lang="en-US" dirty="0"/>
              <a:t>Baseline Model – Accuracy and Macro-F1</a:t>
            </a:r>
          </a:p>
        </p:txBody>
      </p:sp>
      <p:sp>
        <p:nvSpPr>
          <p:cNvPr id="3" name="Content Placeholder 2">
            <a:extLst>
              <a:ext uri="{FF2B5EF4-FFF2-40B4-BE49-F238E27FC236}">
                <a16:creationId xmlns:a16="http://schemas.microsoft.com/office/drawing/2014/main" id="{C1246F83-76CB-9886-979C-06F56057AB20}"/>
              </a:ext>
            </a:extLst>
          </p:cNvPr>
          <p:cNvSpPr>
            <a:spLocks noGrp="1"/>
          </p:cNvSpPr>
          <p:nvPr>
            <p:ph idx="1"/>
          </p:nvPr>
        </p:nvSpPr>
        <p:spPr/>
        <p:txBody>
          <a:bodyPr/>
          <a:lstStyle/>
          <a:p>
            <a:r>
              <a:rPr lang="en-US" dirty="0"/>
              <a:t>Our baseline model is the base foundation model Llama-3.1-8B with proper prompt. The model will only output 0/1/2 for sentiment task, 0/1 for sarcasm task.</a:t>
            </a:r>
          </a:p>
        </p:txBody>
      </p:sp>
      <p:graphicFrame>
        <p:nvGraphicFramePr>
          <p:cNvPr id="5" name="Table 4">
            <a:extLst>
              <a:ext uri="{FF2B5EF4-FFF2-40B4-BE49-F238E27FC236}">
                <a16:creationId xmlns:a16="http://schemas.microsoft.com/office/drawing/2014/main" id="{4FF86249-66A4-8725-948E-050972EEA8ED}"/>
              </a:ext>
            </a:extLst>
          </p:cNvPr>
          <p:cNvGraphicFramePr>
            <a:graphicFrameLocks noGrp="1"/>
          </p:cNvGraphicFramePr>
          <p:nvPr>
            <p:extLst>
              <p:ext uri="{D42A27DB-BD31-4B8C-83A1-F6EECF244321}">
                <p14:modId xmlns:p14="http://schemas.microsoft.com/office/powerpoint/2010/main" val="2229948418"/>
              </p:ext>
            </p:extLst>
          </p:nvPr>
        </p:nvGraphicFramePr>
        <p:xfrm>
          <a:off x="1982468" y="3172506"/>
          <a:ext cx="8128000" cy="1741714"/>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882367947"/>
                    </a:ext>
                  </a:extLst>
                </a:gridCol>
                <a:gridCol w="2032000">
                  <a:extLst>
                    <a:ext uri="{9D8B030D-6E8A-4147-A177-3AD203B41FA5}">
                      <a16:colId xmlns:a16="http://schemas.microsoft.com/office/drawing/2014/main" val="3680817238"/>
                    </a:ext>
                  </a:extLst>
                </a:gridCol>
                <a:gridCol w="2032000">
                  <a:extLst>
                    <a:ext uri="{9D8B030D-6E8A-4147-A177-3AD203B41FA5}">
                      <a16:colId xmlns:a16="http://schemas.microsoft.com/office/drawing/2014/main" val="3459516142"/>
                    </a:ext>
                  </a:extLst>
                </a:gridCol>
                <a:gridCol w="2032000">
                  <a:extLst>
                    <a:ext uri="{9D8B030D-6E8A-4147-A177-3AD203B41FA5}">
                      <a16:colId xmlns:a16="http://schemas.microsoft.com/office/drawing/2014/main" val="217749039"/>
                    </a:ext>
                  </a:extLst>
                </a:gridCol>
              </a:tblGrid>
              <a:tr h="656108">
                <a:tc>
                  <a:txBody>
                    <a:bodyPr/>
                    <a:lstStyle/>
                    <a:p>
                      <a:r>
                        <a:rPr lang="en-US" dirty="0"/>
                        <a:t>Task</a:t>
                      </a:r>
                    </a:p>
                  </a:txBody>
                  <a:tcPr/>
                </a:tc>
                <a:tc>
                  <a:txBody>
                    <a:bodyPr/>
                    <a:lstStyle/>
                    <a:p>
                      <a:r>
                        <a:rPr lang="en-US" dirty="0"/>
                        <a:t>N</a:t>
                      </a:r>
                    </a:p>
                  </a:txBody>
                  <a:tcPr/>
                </a:tc>
                <a:tc>
                  <a:txBody>
                    <a:bodyPr/>
                    <a:lstStyle/>
                    <a:p>
                      <a:r>
                        <a:rPr lang="en-US" dirty="0"/>
                        <a:t>Accuracy</a:t>
                      </a:r>
                    </a:p>
                  </a:txBody>
                  <a:tcPr/>
                </a:tc>
                <a:tc>
                  <a:txBody>
                    <a:bodyPr/>
                    <a:lstStyle/>
                    <a:p>
                      <a:r>
                        <a:rPr lang="en-US" dirty="0"/>
                        <a:t>Macro-F1</a:t>
                      </a:r>
                    </a:p>
                  </a:txBody>
                  <a:tcPr/>
                </a:tc>
                <a:extLst>
                  <a:ext uri="{0D108BD9-81ED-4DB2-BD59-A6C34878D82A}">
                    <a16:rowId xmlns:a16="http://schemas.microsoft.com/office/drawing/2014/main" val="3989970801"/>
                  </a:ext>
                </a:extLst>
              </a:tr>
              <a:tr h="542803">
                <a:tc>
                  <a:txBody>
                    <a:bodyPr/>
                    <a:lstStyle/>
                    <a:p>
                      <a:r>
                        <a:rPr lang="en-US" dirty="0"/>
                        <a:t>Sentiment</a:t>
                      </a:r>
                    </a:p>
                  </a:txBody>
                  <a:tcPr/>
                </a:tc>
                <a:tc>
                  <a:txBody>
                    <a:bodyPr/>
                    <a:lstStyle/>
                    <a:p>
                      <a:r>
                        <a:rPr lang="en-US" dirty="0"/>
                        <a:t>8101</a:t>
                      </a:r>
                    </a:p>
                  </a:txBody>
                  <a:tcPr/>
                </a:tc>
                <a:tc>
                  <a:txBody>
                    <a:bodyPr/>
                    <a:lstStyle/>
                    <a:p>
                      <a:r>
                        <a:rPr lang="en-US" dirty="0"/>
                        <a:t>0.2680</a:t>
                      </a:r>
                    </a:p>
                  </a:txBody>
                  <a:tcPr/>
                </a:tc>
                <a:tc>
                  <a:txBody>
                    <a:bodyPr/>
                    <a:lstStyle/>
                    <a:p>
                      <a:r>
                        <a:rPr lang="en-US" dirty="0"/>
                        <a:t>0.2090</a:t>
                      </a:r>
                    </a:p>
                  </a:txBody>
                  <a:tcPr/>
                </a:tc>
                <a:extLst>
                  <a:ext uri="{0D108BD9-81ED-4DB2-BD59-A6C34878D82A}">
                    <a16:rowId xmlns:a16="http://schemas.microsoft.com/office/drawing/2014/main" val="2897374882"/>
                  </a:ext>
                </a:extLst>
              </a:tr>
              <a:tr h="542803">
                <a:tc>
                  <a:txBody>
                    <a:bodyPr/>
                    <a:lstStyle/>
                    <a:p>
                      <a:r>
                        <a:rPr lang="en-US" dirty="0"/>
                        <a:t>Sarcasm</a:t>
                      </a:r>
                    </a:p>
                  </a:txBody>
                  <a:tcPr/>
                </a:tc>
                <a:tc>
                  <a:txBody>
                    <a:bodyPr/>
                    <a:lstStyle/>
                    <a:p>
                      <a:r>
                        <a:rPr lang="en-US" dirty="0"/>
                        <a:t>955</a:t>
                      </a:r>
                    </a:p>
                  </a:txBody>
                  <a:tcPr/>
                </a:tc>
                <a:tc>
                  <a:txBody>
                    <a:bodyPr/>
                    <a:lstStyle/>
                    <a:p>
                      <a:r>
                        <a:rPr lang="en-US" dirty="0"/>
                        <a:t>0.4640</a:t>
                      </a:r>
                    </a:p>
                  </a:txBody>
                  <a:tcPr/>
                </a:tc>
                <a:tc>
                  <a:txBody>
                    <a:bodyPr/>
                    <a:lstStyle/>
                    <a:p>
                      <a:r>
                        <a:rPr lang="en-US" dirty="0"/>
                        <a:t>0.4140</a:t>
                      </a:r>
                    </a:p>
                  </a:txBody>
                  <a:tcPr/>
                </a:tc>
                <a:extLst>
                  <a:ext uri="{0D108BD9-81ED-4DB2-BD59-A6C34878D82A}">
                    <a16:rowId xmlns:a16="http://schemas.microsoft.com/office/drawing/2014/main" val="2940596154"/>
                  </a:ext>
                </a:extLst>
              </a:tr>
            </a:tbl>
          </a:graphicData>
        </a:graphic>
      </p:graphicFrame>
    </p:spTree>
    <p:extLst>
      <p:ext uri="{BB962C8B-B14F-4D97-AF65-F5344CB8AC3E}">
        <p14:creationId xmlns:p14="http://schemas.microsoft.com/office/powerpoint/2010/main" val="1918052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401E2-69CE-8659-8A67-B66EAEA49491}"/>
              </a:ext>
            </a:extLst>
          </p:cNvPr>
          <p:cNvSpPr>
            <a:spLocks noGrp="1"/>
          </p:cNvSpPr>
          <p:nvPr>
            <p:ph type="title"/>
          </p:nvPr>
        </p:nvSpPr>
        <p:spPr/>
        <p:txBody>
          <a:bodyPr/>
          <a:lstStyle/>
          <a:p>
            <a:r>
              <a:rPr lang="en-US" dirty="0"/>
              <a:t>Baseline Model – Confusion Matrix</a:t>
            </a:r>
          </a:p>
        </p:txBody>
      </p:sp>
      <p:graphicFrame>
        <p:nvGraphicFramePr>
          <p:cNvPr id="6" name="Table 5">
            <a:extLst>
              <a:ext uri="{FF2B5EF4-FFF2-40B4-BE49-F238E27FC236}">
                <a16:creationId xmlns:a16="http://schemas.microsoft.com/office/drawing/2014/main" id="{A9D12E1B-403F-9A50-40C4-26EFBE7E4B5A}"/>
              </a:ext>
            </a:extLst>
          </p:cNvPr>
          <p:cNvGraphicFramePr>
            <a:graphicFrameLocks noGrp="1"/>
          </p:cNvGraphicFramePr>
          <p:nvPr>
            <p:extLst>
              <p:ext uri="{D42A27DB-BD31-4B8C-83A1-F6EECF244321}">
                <p14:modId xmlns:p14="http://schemas.microsoft.com/office/powerpoint/2010/main" val="4292771505"/>
              </p:ext>
            </p:extLst>
          </p:nvPr>
        </p:nvGraphicFramePr>
        <p:xfrm>
          <a:off x="548636" y="2028825"/>
          <a:ext cx="8796020" cy="1483360"/>
        </p:xfrm>
        <a:graphic>
          <a:graphicData uri="http://schemas.openxmlformats.org/drawingml/2006/table">
            <a:tbl>
              <a:tblPr firstRow="1" bandRow="1">
                <a:tableStyleId>{5C22544A-7EE6-4342-B048-85BDC9FD1C3A}</a:tableStyleId>
              </a:tblPr>
              <a:tblGrid>
                <a:gridCol w="2199005">
                  <a:extLst>
                    <a:ext uri="{9D8B030D-6E8A-4147-A177-3AD203B41FA5}">
                      <a16:colId xmlns:a16="http://schemas.microsoft.com/office/drawing/2014/main" val="2735764145"/>
                    </a:ext>
                  </a:extLst>
                </a:gridCol>
                <a:gridCol w="2199005">
                  <a:extLst>
                    <a:ext uri="{9D8B030D-6E8A-4147-A177-3AD203B41FA5}">
                      <a16:colId xmlns:a16="http://schemas.microsoft.com/office/drawing/2014/main" val="3200202079"/>
                    </a:ext>
                  </a:extLst>
                </a:gridCol>
                <a:gridCol w="2199005">
                  <a:extLst>
                    <a:ext uri="{9D8B030D-6E8A-4147-A177-3AD203B41FA5}">
                      <a16:colId xmlns:a16="http://schemas.microsoft.com/office/drawing/2014/main" val="1000364827"/>
                    </a:ext>
                  </a:extLst>
                </a:gridCol>
                <a:gridCol w="2199005">
                  <a:extLst>
                    <a:ext uri="{9D8B030D-6E8A-4147-A177-3AD203B41FA5}">
                      <a16:colId xmlns:a16="http://schemas.microsoft.com/office/drawing/2014/main" val="1634628150"/>
                    </a:ext>
                  </a:extLst>
                </a:gridCol>
              </a:tblGrid>
              <a:tr h="370840">
                <a:tc>
                  <a:txBody>
                    <a:bodyPr/>
                    <a:lstStyle/>
                    <a:p>
                      <a:r>
                        <a:rPr lang="en-US" dirty="0"/>
                        <a:t>Class</a:t>
                      </a:r>
                    </a:p>
                  </a:txBody>
                  <a:tcPr/>
                </a:tc>
                <a:tc>
                  <a:txBody>
                    <a:bodyPr/>
                    <a:lstStyle/>
                    <a:p>
                      <a:r>
                        <a:rPr lang="en-US" dirty="0"/>
                        <a:t>Precision</a:t>
                      </a:r>
                    </a:p>
                  </a:txBody>
                  <a:tcPr/>
                </a:tc>
                <a:tc>
                  <a:txBody>
                    <a:bodyPr/>
                    <a:lstStyle/>
                    <a:p>
                      <a:r>
                        <a:rPr lang="en-US" dirty="0"/>
                        <a:t>Recall</a:t>
                      </a:r>
                    </a:p>
                  </a:txBody>
                  <a:tcPr/>
                </a:tc>
                <a:tc>
                  <a:txBody>
                    <a:bodyPr/>
                    <a:lstStyle/>
                    <a:p>
                      <a:r>
                        <a:rPr lang="en-US" dirty="0"/>
                        <a:t>F1-score</a:t>
                      </a:r>
                    </a:p>
                  </a:txBody>
                  <a:tcPr/>
                </a:tc>
                <a:extLst>
                  <a:ext uri="{0D108BD9-81ED-4DB2-BD59-A6C34878D82A}">
                    <a16:rowId xmlns:a16="http://schemas.microsoft.com/office/drawing/2014/main" val="3471272230"/>
                  </a:ext>
                </a:extLst>
              </a:tr>
              <a:tr h="370840">
                <a:tc>
                  <a:txBody>
                    <a:bodyPr/>
                    <a:lstStyle/>
                    <a:p>
                      <a:r>
                        <a:rPr lang="en-US" dirty="0"/>
                        <a:t>Negative</a:t>
                      </a:r>
                    </a:p>
                  </a:txBody>
                  <a:tcPr/>
                </a:tc>
                <a:tc>
                  <a:txBody>
                    <a:bodyPr/>
                    <a:lstStyle/>
                    <a:p>
                      <a:r>
                        <a:rPr lang="en-US" dirty="0"/>
                        <a:t>0.7143</a:t>
                      </a:r>
                    </a:p>
                  </a:txBody>
                  <a:tcPr/>
                </a:tc>
                <a:tc>
                  <a:txBody>
                    <a:bodyPr/>
                    <a:lstStyle/>
                    <a:p>
                      <a:r>
                        <a:rPr lang="en-US" dirty="0"/>
                        <a:t>0.1000</a:t>
                      </a:r>
                    </a:p>
                  </a:txBody>
                  <a:tcPr/>
                </a:tc>
                <a:tc>
                  <a:txBody>
                    <a:bodyPr/>
                    <a:lstStyle/>
                    <a:p>
                      <a:r>
                        <a:rPr lang="en-US" dirty="0"/>
                        <a:t>0.1754</a:t>
                      </a:r>
                    </a:p>
                  </a:txBody>
                  <a:tcPr/>
                </a:tc>
                <a:extLst>
                  <a:ext uri="{0D108BD9-81ED-4DB2-BD59-A6C34878D82A}">
                    <a16:rowId xmlns:a16="http://schemas.microsoft.com/office/drawing/2014/main" val="3046027054"/>
                  </a:ext>
                </a:extLst>
              </a:tr>
              <a:tr h="370840">
                <a:tc>
                  <a:txBody>
                    <a:bodyPr/>
                    <a:lstStyle/>
                    <a:p>
                      <a:r>
                        <a:rPr lang="en-US" dirty="0"/>
                        <a:t>Neutral</a:t>
                      </a:r>
                    </a:p>
                  </a:txBody>
                  <a:tcPr/>
                </a:tc>
                <a:tc>
                  <a:txBody>
                    <a:bodyPr/>
                    <a:lstStyle/>
                    <a:p>
                      <a:r>
                        <a:rPr lang="en-US" altLang="zh-CN" dirty="0"/>
                        <a:t>1.000</a:t>
                      </a:r>
                      <a:endParaRPr lang="en-US" dirty="0"/>
                    </a:p>
                  </a:txBody>
                  <a:tcPr/>
                </a:tc>
                <a:tc>
                  <a:txBody>
                    <a:bodyPr/>
                    <a:lstStyle/>
                    <a:p>
                      <a:r>
                        <a:rPr lang="en-US" dirty="0"/>
                        <a:t>0.0375</a:t>
                      </a:r>
                    </a:p>
                  </a:txBody>
                  <a:tcPr/>
                </a:tc>
                <a:tc>
                  <a:txBody>
                    <a:bodyPr/>
                    <a:lstStyle/>
                    <a:p>
                      <a:r>
                        <a:rPr lang="en-US" dirty="0"/>
                        <a:t>0.0723</a:t>
                      </a:r>
                    </a:p>
                  </a:txBody>
                  <a:tcPr/>
                </a:tc>
                <a:extLst>
                  <a:ext uri="{0D108BD9-81ED-4DB2-BD59-A6C34878D82A}">
                    <a16:rowId xmlns:a16="http://schemas.microsoft.com/office/drawing/2014/main" val="36302304"/>
                  </a:ext>
                </a:extLst>
              </a:tr>
              <a:tr h="370840">
                <a:tc>
                  <a:txBody>
                    <a:bodyPr/>
                    <a:lstStyle/>
                    <a:p>
                      <a:r>
                        <a:rPr lang="en-US" dirty="0"/>
                        <a:t>Positive</a:t>
                      </a:r>
                    </a:p>
                  </a:txBody>
                  <a:tcPr/>
                </a:tc>
                <a:tc>
                  <a:txBody>
                    <a:bodyPr/>
                    <a:lstStyle/>
                    <a:p>
                      <a:r>
                        <a:rPr lang="en-US" dirty="0"/>
                        <a:t>0.2340</a:t>
                      </a:r>
                    </a:p>
                  </a:txBody>
                  <a:tcPr/>
                </a:tc>
                <a:tc>
                  <a:txBody>
                    <a:bodyPr/>
                    <a:lstStyle/>
                    <a:p>
                      <a:r>
                        <a:rPr lang="en-US" dirty="0"/>
                        <a:t>1.0000</a:t>
                      </a:r>
                    </a:p>
                  </a:txBody>
                  <a:tcPr/>
                </a:tc>
                <a:tc>
                  <a:txBody>
                    <a:bodyPr/>
                    <a:lstStyle/>
                    <a:p>
                      <a:r>
                        <a:rPr lang="en-US" dirty="0"/>
                        <a:t>0.3793</a:t>
                      </a:r>
                    </a:p>
                  </a:txBody>
                  <a:tcPr/>
                </a:tc>
                <a:extLst>
                  <a:ext uri="{0D108BD9-81ED-4DB2-BD59-A6C34878D82A}">
                    <a16:rowId xmlns:a16="http://schemas.microsoft.com/office/drawing/2014/main" val="2747547205"/>
                  </a:ext>
                </a:extLst>
              </a:tr>
            </a:tbl>
          </a:graphicData>
        </a:graphic>
      </p:graphicFrame>
      <p:graphicFrame>
        <p:nvGraphicFramePr>
          <p:cNvPr id="9" name="Table 8">
            <a:extLst>
              <a:ext uri="{FF2B5EF4-FFF2-40B4-BE49-F238E27FC236}">
                <a16:creationId xmlns:a16="http://schemas.microsoft.com/office/drawing/2014/main" id="{E7DECC50-8462-6507-50C6-5000A9E7362B}"/>
              </a:ext>
            </a:extLst>
          </p:cNvPr>
          <p:cNvGraphicFramePr>
            <a:graphicFrameLocks noGrp="1"/>
          </p:cNvGraphicFramePr>
          <p:nvPr>
            <p:extLst>
              <p:ext uri="{D42A27DB-BD31-4B8C-83A1-F6EECF244321}">
                <p14:modId xmlns:p14="http://schemas.microsoft.com/office/powerpoint/2010/main" val="2513387289"/>
              </p:ext>
            </p:extLst>
          </p:nvPr>
        </p:nvGraphicFramePr>
        <p:xfrm>
          <a:off x="548635" y="3765868"/>
          <a:ext cx="8796020" cy="1311456"/>
        </p:xfrm>
        <a:graphic>
          <a:graphicData uri="http://schemas.openxmlformats.org/drawingml/2006/table">
            <a:tbl>
              <a:tblPr firstRow="1" bandRow="1">
                <a:tableStyleId>{5C22544A-7EE6-4342-B048-85BDC9FD1C3A}</a:tableStyleId>
              </a:tblPr>
              <a:tblGrid>
                <a:gridCol w="2199005">
                  <a:extLst>
                    <a:ext uri="{9D8B030D-6E8A-4147-A177-3AD203B41FA5}">
                      <a16:colId xmlns:a16="http://schemas.microsoft.com/office/drawing/2014/main" val="1095232737"/>
                    </a:ext>
                  </a:extLst>
                </a:gridCol>
                <a:gridCol w="2199005">
                  <a:extLst>
                    <a:ext uri="{9D8B030D-6E8A-4147-A177-3AD203B41FA5}">
                      <a16:colId xmlns:a16="http://schemas.microsoft.com/office/drawing/2014/main" val="4237101212"/>
                    </a:ext>
                  </a:extLst>
                </a:gridCol>
                <a:gridCol w="2199005">
                  <a:extLst>
                    <a:ext uri="{9D8B030D-6E8A-4147-A177-3AD203B41FA5}">
                      <a16:colId xmlns:a16="http://schemas.microsoft.com/office/drawing/2014/main" val="2870706493"/>
                    </a:ext>
                  </a:extLst>
                </a:gridCol>
                <a:gridCol w="2199005">
                  <a:extLst>
                    <a:ext uri="{9D8B030D-6E8A-4147-A177-3AD203B41FA5}">
                      <a16:colId xmlns:a16="http://schemas.microsoft.com/office/drawing/2014/main" val="3775081586"/>
                    </a:ext>
                  </a:extLst>
                </a:gridCol>
              </a:tblGrid>
              <a:tr h="437152">
                <a:tc>
                  <a:txBody>
                    <a:bodyPr/>
                    <a:lstStyle/>
                    <a:p>
                      <a:r>
                        <a:rPr lang="en-US" dirty="0"/>
                        <a:t>Class</a:t>
                      </a:r>
                    </a:p>
                  </a:txBody>
                  <a:tcPr/>
                </a:tc>
                <a:tc>
                  <a:txBody>
                    <a:bodyPr/>
                    <a:lstStyle/>
                    <a:p>
                      <a:r>
                        <a:rPr lang="en-US" dirty="0"/>
                        <a:t>Precision</a:t>
                      </a:r>
                    </a:p>
                  </a:txBody>
                  <a:tcPr/>
                </a:tc>
                <a:tc>
                  <a:txBody>
                    <a:bodyPr/>
                    <a:lstStyle/>
                    <a:p>
                      <a:r>
                        <a:rPr lang="en-US" dirty="0"/>
                        <a:t>Recall</a:t>
                      </a:r>
                    </a:p>
                  </a:txBody>
                  <a:tcPr/>
                </a:tc>
                <a:tc>
                  <a:txBody>
                    <a:bodyPr/>
                    <a:lstStyle/>
                    <a:p>
                      <a:r>
                        <a:rPr lang="en-US" dirty="0"/>
                        <a:t>F1-score</a:t>
                      </a:r>
                    </a:p>
                  </a:txBody>
                  <a:tcPr/>
                </a:tc>
                <a:extLst>
                  <a:ext uri="{0D108BD9-81ED-4DB2-BD59-A6C34878D82A}">
                    <a16:rowId xmlns:a16="http://schemas.microsoft.com/office/drawing/2014/main" val="1540675295"/>
                  </a:ext>
                </a:extLst>
              </a:tr>
              <a:tr h="437152">
                <a:tc>
                  <a:txBody>
                    <a:bodyPr/>
                    <a:lstStyle/>
                    <a:p>
                      <a:r>
                        <a:rPr lang="en-US" dirty="0"/>
                        <a:t>Non-sarcastic</a:t>
                      </a:r>
                    </a:p>
                  </a:txBody>
                  <a:tcPr/>
                </a:tc>
                <a:tc>
                  <a:txBody>
                    <a:bodyPr/>
                    <a:lstStyle/>
                    <a:p>
                      <a:r>
                        <a:rPr lang="en-US" dirty="0"/>
                        <a:t>1.0000</a:t>
                      </a:r>
                    </a:p>
                  </a:txBody>
                  <a:tcPr/>
                </a:tc>
                <a:tc>
                  <a:txBody>
                    <a:bodyPr/>
                    <a:lstStyle/>
                    <a:p>
                      <a:r>
                        <a:rPr lang="en-US" dirty="0"/>
                        <a:t>0.1383</a:t>
                      </a:r>
                    </a:p>
                  </a:txBody>
                  <a:tcPr/>
                </a:tc>
                <a:tc>
                  <a:txBody>
                    <a:bodyPr/>
                    <a:lstStyle/>
                    <a:p>
                      <a:r>
                        <a:rPr lang="en-US" dirty="0"/>
                        <a:t>0.2429</a:t>
                      </a:r>
                    </a:p>
                  </a:txBody>
                  <a:tcPr/>
                </a:tc>
                <a:extLst>
                  <a:ext uri="{0D108BD9-81ED-4DB2-BD59-A6C34878D82A}">
                    <a16:rowId xmlns:a16="http://schemas.microsoft.com/office/drawing/2014/main" val="2003915046"/>
                  </a:ext>
                </a:extLst>
              </a:tr>
              <a:tr h="437152">
                <a:tc>
                  <a:txBody>
                    <a:bodyPr/>
                    <a:lstStyle/>
                    <a:p>
                      <a:r>
                        <a:rPr lang="en-US" dirty="0"/>
                        <a:t>Sarcastic</a:t>
                      </a:r>
                    </a:p>
                  </a:txBody>
                  <a:tcPr/>
                </a:tc>
                <a:tc>
                  <a:txBody>
                    <a:bodyPr/>
                    <a:lstStyle/>
                    <a:p>
                      <a:r>
                        <a:rPr lang="en-US" dirty="0"/>
                        <a:t>0.4136</a:t>
                      </a:r>
                    </a:p>
                  </a:txBody>
                  <a:tcPr/>
                </a:tc>
                <a:tc>
                  <a:txBody>
                    <a:bodyPr/>
                    <a:lstStyle/>
                    <a:p>
                      <a:r>
                        <a:rPr lang="en-US" dirty="0"/>
                        <a:t>1.0000</a:t>
                      </a:r>
                    </a:p>
                  </a:txBody>
                  <a:tcPr/>
                </a:tc>
                <a:tc>
                  <a:txBody>
                    <a:bodyPr/>
                    <a:lstStyle/>
                    <a:p>
                      <a:r>
                        <a:rPr lang="en-US" dirty="0"/>
                        <a:t>0.5851</a:t>
                      </a:r>
                    </a:p>
                  </a:txBody>
                  <a:tcPr/>
                </a:tc>
                <a:extLst>
                  <a:ext uri="{0D108BD9-81ED-4DB2-BD59-A6C34878D82A}">
                    <a16:rowId xmlns:a16="http://schemas.microsoft.com/office/drawing/2014/main" val="216787238"/>
                  </a:ext>
                </a:extLst>
              </a:tr>
            </a:tbl>
          </a:graphicData>
        </a:graphic>
      </p:graphicFrame>
      <p:sp>
        <p:nvSpPr>
          <p:cNvPr id="10" name="TextBox 9">
            <a:extLst>
              <a:ext uri="{FF2B5EF4-FFF2-40B4-BE49-F238E27FC236}">
                <a16:creationId xmlns:a16="http://schemas.microsoft.com/office/drawing/2014/main" id="{387E8558-FD8A-EF2A-D68C-2643070DDCD0}"/>
              </a:ext>
            </a:extLst>
          </p:cNvPr>
          <p:cNvSpPr txBox="1"/>
          <p:nvPr/>
        </p:nvSpPr>
        <p:spPr>
          <a:xfrm>
            <a:off x="9344655" y="2585839"/>
            <a:ext cx="2326278" cy="369332"/>
          </a:xfrm>
          <a:prstGeom prst="rect">
            <a:avLst/>
          </a:prstGeom>
          <a:noFill/>
        </p:spPr>
        <p:txBody>
          <a:bodyPr wrap="none" rtlCol="0">
            <a:spAutoFit/>
          </a:bodyPr>
          <a:lstStyle/>
          <a:p>
            <a:r>
              <a:rPr lang="en-US" dirty="0"/>
              <a:t>Sentiment Only Task</a:t>
            </a:r>
          </a:p>
        </p:txBody>
      </p:sp>
      <p:sp>
        <p:nvSpPr>
          <p:cNvPr id="11" name="TextBox 10">
            <a:extLst>
              <a:ext uri="{FF2B5EF4-FFF2-40B4-BE49-F238E27FC236}">
                <a16:creationId xmlns:a16="http://schemas.microsoft.com/office/drawing/2014/main" id="{72F5A86D-98E7-B995-18FC-686162A162D3}"/>
              </a:ext>
            </a:extLst>
          </p:cNvPr>
          <p:cNvSpPr txBox="1"/>
          <p:nvPr/>
        </p:nvSpPr>
        <p:spPr>
          <a:xfrm>
            <a:off x="9344655" y="4405368"/>
            <a:ext cx="2146742" cy="369332"/>
          </a:xfrm>
          <a:prstGeom prst="rect">
            <a:avLst/>
          </a:prstGeom>
          <a:noFill/>
        </p:spPr>
        <p:txBody>
          <a:bodyPr wrap="none" rtlCol="0">
            <a:spAutoFit/>
          </a:bodyPr>
          <a:lstStyle/>
          <a:p>
            <a:r>
              <a:rPr lang="en-US" dirty="0"/>
              <a:t>Sarcasm Only Task</a:t>
            </a:r>
          </a:p>
        </p:txBody>
      </p:sp>
      <p:sp>
        <p:nvSpPr>
          <p:cNvPr id="12" name="TextBox 11">
            <a:extLst>
              <a:ext uri="{FF2B5EF4-FFF2-40B4-BE49-F238E27FC236}">
                <a16:creationId xmlns:a16="http://schemas.microsoft.com/office/drawing/2014/main" id="{147B9022-45A5-3E3E-0174-347B27B044D6}"/>
              </a:ext>
            </a:extLst>
          </p:cNvPr>
          <p:cNvSpPr txBox="1"/>
          <p:nvPr/>
        </p:nvSpPr>
        <p:spPr>
          <a:xfrm>
            <a:off x="548635" y="5116659"/>
            <a:ext cx="10942761" cy="1200329"/>
          </a:xfrm>
          <a:prstGeom prst="rect">
            <a:avLst/>
          </a:prstGeom>
          <a:noFill/>
        </p:spPr>
        <p:txBody>
          <a:bodyPr wrap="square" rtlCol="0">
            <a:spAutoFit/>
          </a:bodyPr>
          <a:lstStyle/>
          <a:p>
            <a:r>
              <a:rPr lang="en-US" dirty="0"/>
              <a:t>Base</a:t>
            </a:r>
            <a:r>
              <a:rPr lang="zh-CN" altLang="en-US" dirty="0"/>
              <a:t> </a:t>
            </a:r>
            <a:r>
              <a:rPr lang="en-US" altLang="zh-CN" dirty="0"/>
              <a:t>foundation model’s performance on validation subset underperforms majority-class accuracy on both tasks, sarcasm macro-f1 is only slightly above baseline due to a near-perfect sarcastic recall, the model tend to classify every document into one specific group showing it is not able to identify both sentiment </a:t>
            </a:r>
            <a:r>
              <a:rPr lang="en-US" altLang="zh-CN"/>
              <a:t>and sarcasm.</a:t>
            </a:r>
            <a:endParaRPr lang="en-US" dirty="0"/>
          </a:p>
        </p:txBody>
      </p:sp>
    </p:spTree>
    <p:extLst>
      <p:ext uri="{BB962C8B-B14F-4D97-AF65-F5344CB8AC3E}">
        <p14:creationId xmlns:p14="http://schemas.microsoft.com/office/powerpoint/2010/main" val="353538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EDBF-3599-02BF-2999-17CB6B2915D7}"/>
              </a:ext>
            </a:extLst>
          </p:cNvPr>
          <p:cNvSpPr>
            <a:spLocks noGrp="1"/>
          </p:cNvSpPr>
          <p:nvPr>
            <p:ph type="title"/>
          </p:nvPr>
        </p:nvSpPr>
        <p:spPr/>
        <p:txBody>
          <a:bodyPr/>
          <a:lstStyle/>
          <a:p>
            <a:r>
              <a:rPr lang="en-US" dirty="0"/>
              <a:t>Stage 1 – Accuracy &amp; Macro-F1</a:t>
            </a:r>
          </a:p>
        </p:txBody>
      </p:sp>
      <p:sp>
        <p:nvSpPr>
          <p:cNvPr id="4" name="Content Placeholder 3">
            <a:extLst>
              <a:ext uri="{FF2B5EF4-FFF2-40B4-BE49-F238E27FC236}">
                <a16:creationId xmlns:a16="http://schemas.microsoft.com/office/drawing/2014/main" id="{71D0769F-6942-66B7-F419-283585B01922}"/>
              </a:ext>
            </a:extLst>
          </p:cNvPr>
          <p:cNvSpPr>
            <a:spLocks noGrp="1"/>
          </p:cNvSpPr>
          <p:nvPr>
            <p:ph idx="1"/>
          </p:nvPr>
        </p:nvSpPr>
        <p:spPr>
          <a:xfrm>
            <a:off x="5274365" y="1958976"/>
            <a:ext cx="6269936" cy="4098924"/>
          </a:xfrm>
        </p:spPr>
        <p:txBody>
          <a:bodyPr>
            <a:normAutofit lnSpcReduction="10000"/>
          </a:bodyPr>
          <a:lstStyle/>
          <a:p>
            <a:r>
              <a:rPr lang="en-US" dirty="0"/>
              <a:t>In stage 1, we set scaling (lora alpha) equal to 32 to stabilize training and preserve the base model’s behavior.</a:t>
            </a:r>
          </a:p>
          <a:p>
            <a:r>
              <a:rPr lang="en-US" dirty="0"/>
              <a:t>Also, setting rank to 16 to increase the capacity of the adapter with more parameters and VRAM usages.</a:t>
            </a:r>
          </a:p>
          <a:p>
            <a:r>
              <a:rPr lang="en-US" dirty="0"/>
              <a:t>We applied </a:t>
            </a:r>
            <a:r>
              <a:rPr lang="en-US" dirty="0" err="1"/>
              <a:t>LoRA</a:t>
            </a:r>
            <a:r>
              <a:rPr lang="en-US" dirty="0"/>
              <a:t> to attention (Q/K/V’s projection) and to the </a:t>
            </a:r>
            <a:r>
              <a:rPr lang="en-US" dirty="0" err="1"/>
              <a:t>SwiGLU</a:t>
            </a:r>
            <a:r>
              <a:rPr lang="en-US" dirty="0"/>
              <a:t> MLP (up/down/gate’s projection).</a:t>
            </a:r>
          </a:p>
          <a:p>
            <a:r>
              <a:rPr lang="en-US" dirty="0"/>
              <a:t>Overall, the result is promising.</a:t>
            </a:r>
          </a:p>
        </p:txBody>
      </p:sp>
      <p:pic>
        <p:nvPicPr>
          <p:cNvPr id="5" name="Picture 4">
            <a:extLst>
              <a:ext uri="{FF2B5EF4-FFF2-40B4-BE49-F238E27FC236}">
                <a16:creationId xmlns:a16="http://schemas.microsoft.com/office/drawing/2014/main" id="{9AF97DED-C0DC-BD10-90DE-DF8EECC2CBC4}"/>
              </a:ext>
            </a:extLst>
          </p:cNvPr>
          <p:cNvPicPr>
            <a:picLocks noChangeAspect="1"/>
          </p:cNvPicPr>
          <p:nvPr/>
        </p:nvPicPr>
        <p:blipFill>
          <a:blip r:embed="rId2"/>
          <a:stretch>
            <a:fillRect/>
          </a:stretch>
        </p:blipFill>
        <p:spPr>
          <a:xfrm>
            <a:off x="548636" y="1958976"/>
            <a:ext cx="4473938" cy="4118574"/>
          </a:xfrm>
          <a:prstGeom prst="rect">
            <a:avLst/>
          </a:prstGeom>
        </p:spPr>
      </p:pic>
    </p:spTree>
    <p:extLst>
      <p:ext uri="{BB962C8B-B14F-4D97-AF65-F5344CB8AC3E}">
        <p14:creationId xmlns:p14="http://schemas.microsoft.com/office/powerpoint/2010/main" val="590456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A0D3C-C942-EBF4-A5AC-CF8093B0C5FA}"/>
              </a:ext>
            </a:extLst>
          </p:cNvPr>
          <p:cNvSpPr>
            <a:spLocks noGrp="1"/>
          </p:cNvSpPr>
          <p:nvPr>
            <p:ph type="title"/>
          </p:nvPr>
        </p:nvSpPr>
        <p:spPr/>
        <p:txBody>
          <a:bodyPr/>
          <a:lstStyle/>
          <a:p>
            <a:r>
              <a:rPr lang="en-US" dirty="0"/>
              <a:t>Stage 2 – Accuracy &amp; Confusion Matrix</a:t>
            </a:r>
          </a:p>
        </p:txBody>
      </p:sp>
      <p:pic>
        <p:nvPicPr>
          <p:cNvPr id="6" name="Content Placeholder 5">
            <a:extLst>
              <a:ext uri="{FF2B5EF4-FFF2-40B4-BE49-F238E27FC236}">
                <a16:creationId xmlns:a16="http://schemas.microsoft.com/office/drawing/2014/main" id="{0C0DE2E7-06A5-9843-64F4-443D16BC5C75}"/>
              </a:ext>
            </a:extLst>
          </p:cNvPr>
          <p:cNvPicPr>
            <a:picLocks noGrp="1" noChangeAspect="1"/>
          </p:cNvPicPr>
          <p:nvPr>
            <p:ph idx="1"/>
          </p:nvPr>
        </p:nvPicPr>
        <p:blipFill>
          <a:blip r:embed="rId2"/>
          <a:stretch>
            <a:fillRect/>
          </a:stretch>
        </p:blipFill>
        <p:spPr>
          <a:xfrm>
            <a:off x="402589" y="1485900"/>
            <a:ext cx="6019800" cy="2794000"/>
          </a:xfrm>
          <a:prstGeom prst="rect">
            <a:avLst/>
          </a:prstGeom>
        </p:spPr>
      </p:pic>
      <p:pic>
        <p:nvPicPr>
          <p:cNvPr id="7" name="Picture 6">
            <a:extLst>
              <a:ext uri="{FF2B5EF4-FFF2-40B4-BE49-F238E27FC236}">
                <a16:creationId xmlns:a16="http://schemas.microsoft.com/office/drawing/2014/main" id="{35CC75A5-5466-D188-7EF8-8AC95ACDC2E8}"/>
              </a:ext>
            </a:extLst>
          </p:cNvPr>
          <p:cNvPicPr>
            <a:picLocks noChangeAspect="1"/>
          </p:cNvPicPr>
          <p:nvPr/>
        </p:nvPicPr>
        <p:blipFill>
          <a:blip r:embed="rId3"/>
          <a:stretch>
            <a:fillRect/>
          </a:stretch>
        </p:blipFill>
        <p:spPr>
          <a:xfrm>
            <a:off x="402589" y="4279900"/>
            <a:ext cx="6019800" cy="2458792"/>
          </a:xfrm>
          <a:prstGeom prst="rect">
            <a:avLst/>
          </a:prstGeom>
        </p:spPr>
      </p:pic>
      <p:sp>
        <p:nvSpPr>
          <p:cNvPr id="10" name="TextBox 9">
            <a:extLst>
              <a:ext uri="{FF2B5EF4-FFF2-40B4-BE49-F238E27FC236}">
                <a16:creationId xmlns:a16="http://schemas.microsoft.com/office/drawing/2014/main" id="{8BC75A3E-E6C8-316E-0A4A-CF847DFC3D7F}"/>
              </a:ext>
            </a:extLst>
          </p:cNvPr>
          <p:cNvSpPr txBox="1"/>
          <p:nvPr/>
        </p:nvSpPr>
        <p:spPr>
          <a:xfrm>
            <a:off x="6612835" y="1749287"/>
            <a:ext cx="5030526" cy="4524315"/>
          </a:xfrm>
          <a:prstGeom prst="rect">
            <a:avLst/>
          </a:prstGeom>
          <a:noFill/>
        </p:spPr>
        <p:txBody>
          <a:bodyPr wrap="square" rtlCol="0">
            <a:spAutoFit/>
          </a:bodyPr>
          <a:lstStyle/>
          <a:p>
            <a:r>
              <a:rPr lang="en-US" dirty="0"/>
              <a:t>As we mentioned, the target of stage 2 is to improve the performance of sarcasm classification task without sacrificing too much of the performance of sentiment classification task.</a:t>
            </a:r>
          </a:p>
          <a:p>
            <a:endParaRPr lang="en-US" dirty="0"/>
          </a:p>
          <a:p>
            <a:r>
              <a:rPr lang="en-US" dirty="0"/>
              <a:t>Compare to stage 1, our accuracy actually increased from 0.7955 to 0.7985, over macro-f1 increased from 0.7848 to 0.7868.</a:t>
            </a:r>
          </a:p>
          <a:p>
            <a:endParaRPr lang="en-US" dirty="0"/>
          </a:p>
          <a:p>
            <a:r>
              <a:rPr lang="en-US" dirty="0"/>
              <a:t>Compare to our baseline model, both accuracy and macro-f1 increased for about 30%.</a:t>
            </a:r>
          </a:p>
          <a:p>
            <a:endParaRPr lang="en-US" dirty="0"/>
          </a:p>
          <a:p>
            <a:r>
              <a:rPr lang="en-US" dirty="0"/>
              <a:t>But, the model seems having a hard time identify neutral comparing to identify negative and positive.</a:t>
            </a:r>
          </a:p>
        </p:txBody>
      </p:sp>
    </p:spTree>
    <p:extLst>
      <p:ext uri="{BB962C8B-B14F-4D97-AF65-F5344CB8AC3E}">
        <p14:creationId xmlns:p14="http://schemas.microsoft.com/office/powerpoint/2010/main" val="4131747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598BE-4C76-1942-4F9E-09C74DB15F72}"/>
              </a:ext>
            </a:extLst>
          </p:cNvPr>
          <p:cNvSpPr>
            <a:spLocks noGrp="1"/>
          </p:cNvSpPr>
          <p:nvPr>
            <p:ph type="title"/>
          </p:nvPr>
        </p:nvSpPr>
        <p:spPr/>
        <p:txBody>
          <a:bodyPr/>
          <a:lstStyle/>
          <a:p>
            <a:r>
              <a:rPr lang="en-US" dirty="0"/>
              <a:t>Final Comparison</a:t>
            </a:r>
          </a:p>
        </p:txBody>
      </p:sp>
      <p:pic>
        <p:nvPicPr>
          <p:cNvPr id="4" name="Content Placeholder 3">
            <a:extLst>
              <a:ext uri="{FF2B5EF4-FFF2-40B4-BE49-F238E27FC236}">
                <a16:creationId xmlns:a16="http://schemas.microsoft.com/office/drawing/2014/main" id="{858AC5BF-D4FA-EF1D-1568-AB6BCF94335E}"/>
              </a:ext>
            </a:extLst>
          </p:cNvPr>
          <p:cNvPicPr>
            <a:picLocks noGrp="1" noChangeAspect="1"/>
          </p:cNvPicPr>
          <p:nvPr>
            <p:ph idx="1"/>
          </p:nvPr>
        </p:nvPicPr>
        <p:blipFill>
          <a:blip r:embed="rId2"/>
          <a:stretch>
            <a:fillRect/>
          </a:stretch>
        </p:blipFill>
        <p:spPr>
          <a:xfrm>
            <a:off x="548639" y="2028825"/>
            <a:ext cx="3421571" cy="4029075"/>
          </a:xfrm>
          <a:prstGeom prst="rect">
            <a:avLst/>
          </a:prstGeom>
        </p:spPr>
      </p:pic>
      <p:pic>
        <p:nvPicPr>
          <p:cNvPr id="5" name="Picture 4">
            <a:extLst>
              <a:ext uri="{FF2B5EF4-FFF2-40B4-BE49-F238E27FC236}">
                <a16:creationId xmlns:a16="http://schemas.microsoft.com/office/drawing/2014/main" id="{37E0FE56-BC0C-8C1A-AAFF-3B3BD4DE68AC}"/>
              </a:ext>
            </a:extLst>
          </p:cNvPr>
          <p:cNvPicPr>
            <a:picLocks noChangeAspect="1"/>
          </p:cNvPicPr>
          <p:nvPr/>
        </p:nvPicPr>
        <p:blipFill>
          <a:blip r:embed="rId3"/>
          <a:stretch>
            <a:fillRect/>
          </a:stretch>
        </p:blipFill>
        <p:spPr>
          <a:xfrm>
            <a:off x="4415545" y="2028824"/>
            <a:ext cx="4145139" cy="4029075"/>
          </a:xfrm>
          <a:prstGeom prst="rect">
            <a:avLst/>
          </a:prstGeom>
        </p:spPr>
      </p:pic>
      <p:sp>
        <p:nvSpPr>
          <p:cNvPr id="6" name="TextBox 5">
            <a:extLst>
              <a:ext uri="{FF2B5EF4-FFF2-40B4-BE49-F238E27FC236}">
                <a16:creationId xmlns:a16="http://schemas.microsoft.com/office/drawing/2014/main" id="{402CB9BF-AC82-6993-A8A1-0084E2B49C5B}"/>
              </a:ext>
            </a:extLst>
          </p:cNvPr>
          <p:cNvSpPr txBox="1"/>
          <p:nvPr/>
        </p:nvSpPr>
        <p:spPr>
          <a:xfrm>
            <a:off x="1325217" y="1603513"/>
            <a:ext cx="1056700" cy="369332"/>
          </a:xfrm>
          <a:prstGeom prst="rect">
            <a:avLst/>
          </a:prstGeom>
          <a:noFill/>
        </p:spPr>
        <p:txBody>
          <a:bodyPr wrap="none" rtlCol="0">
            <a:spAutoFit/>
          </a:bodyPr>
          <a:lstStyle/>
          <a:p>
            <a:r>
              <a:rPr lang="en-US" dirty="0"/>
              <a:t>Baseline</a:t>
            </a:r>
          </a:p>
        </p:txBody>
      </p:sp>
      <p:sp>
        <p:nvSpPr>
          <p:cNvPr id="7" name="TextBox 6">
            <a:extLst>
              <a:ext uri="{FF2B5EF4-FFF2-40B4-BE49-F238E27FC236}">
                <a16:creationId xmlns:a16="http://schemas.microsoft.com/office/drawing/2014/main" id="{6DF8E088-E339-DC20-40CB-9A3008CA1015}"/>
              </a:ext>
            </a:extLst>
          </p:cNvPr>
          <p:cNvSpPr txBox="1"/>
          <p:nvPr/>
        </p:nvSpPr>
        <p:spPr>
          <a:xfrm>
            <a:off x="5811077" y="1603513"/>
            <a:ext cx="966931" cy="369332"/>
          </a:xfrm>
          <a:prstGeom prst="rect">
            <a:avLst/>
          </a:prstGeom>
          <a:noFill/>
        </p:spPr>
        <p:txBody>
          <a:bodyPr wrap="none" rtlCol="0">
            <a:spAutoFit/>
          </a:bodyPr>
          <a:lstStyle/>
          <a:p>
            <a:r>
              <a:rPr lang="en-US" dirty="0"/>
              <a:t>Stage 2</a:t>
            </a:r>
          </a:p>
        </p:txBody>
      </p:sp>
      <p:sp>
        <p:nvSpPr>
          <p:cNvPr id="8" name="TextBox 7">
            <a:extLst>
              <a:ext uri="{FF2B5EF4-FFF2-40B4-BE49-F238E27FC236}">
                <a16:creationId xmlns:a16="http://schemas.microsoft.com/office/drawing/2014/main" id="{31C475CE-6E38-9232-BE8C-A3C6ECFDD977}"/>
              </a:ext>
            </a:extLst>
          </p:cNvPr>
          <p:cNvSpPr txBox="1"/>
          <p:nvPr/>
        </p:nvSpPr>
        <p:spPr>
          <a:xfrm>
            <a:off x="8693426" y="2028824"/>
            <a:ext cx="2850872" cy="3539430"/>
          </a:xfrm>
          <a:prstGeom prst="rect">
            <a:avLst/>
          </a:prstGeom>
          <a:noFill/>
        </p:spPr>
        <p:txBody>
          <a:bodyPr wrap="square" rtlCol="0">
            <a:spAutoFit/>
          </a:bodyPr>
          <a:lstStyle/>
          <a:p>
            <a:pPr marL="285750" indent="-285750">
              <a:buFont typeface="Arial" panose="020B0604020202020204" pitchFamily="34" charset="0"/>
              <a:buChar char="•"/>
            </a:pPr>
            <a:r>
              <a:rPr lang="en-US" sz="1400" dirty="0"/>
              <a:t>Run sentiment and sarcasm classification task on ‘test’ data subset (unbalanced distribution, like real-life data).</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All the stage 2 targets increase for about 40% like what we expected except Micro-F1 for sarcasm task.</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From the low precision and extremely low </a:t>
            </a:r>
            <a:r>
              <a:rPr lang="en-US" sz="1400" dirty="0" err="1"/>
              <a:t>racall</a:t>
            </a:r>
            <a:r>
              <a:rPr lang="en-US" sz="1400" dirty="0"/>
              <a:t> of sarcastic class, our fine-tuned model still cannot identify sarcastic text in real-life like dataset.</a:t>
            </a:r>
          </a:p>
        </p:txBody>
      </p:sp>
    </p:spTree>
    <p:extLst>
      <p:ext uri="{BB962C8B-B14F-4D97-AF65-F5344CB8AC3E}">
        <p14:creationId xmlns:p14="http://schemas.microsoft.com/office/powerpoint/2010/main" val="89722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6103D-2A55-F8C6-DDCF-7BBAB40EE15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6179128D-CB3B-B966-6034-2480F619FE18}"/>
              </a:ext>
            </a:extLst>
          </p:cNvPr>
          <p:cNvSpPr>
            <a:spLocks noGrp="1"/>
          </p:cNvSpPr>
          <p:nvPr>
            <p:ph idx="1"/>
          </p:nvPr>
        </p:nvSpPr>
        <p:spPr/>
        <p:txBody>
          <a:bodyPr>
            <a:normAutofit lnSpcReduction="10000"/>
          </a:bodyPr>
          <a:lstStyle/>
          <a:p>
            <a:r>
              <a:rPr lang="en-US" dirty="0"/>
              <a:t>Compare to our base model, our fine-tuned model’s performance in sentiment and sarcasm task improved for a certain level (20% to 40%).</a:t>
            </a:r>
          </a:p>
          <a:p>
            <a:r>
              <a:rPr lang="en-US" dirty="0"/>
              <a:t>But, model’s ability in accurately identifying neutral in sentiment task and sarcastic in sarcasm task is still unsatisfactory. Our sampling strategy in training stage of each task has the same number of data of each class make sure that our model should not have bias to some particular class with huge number (such as dataset with 100 positive data, 5 neutral data and 50 negative data).</a:t>
            </a:r>
          </a:p>
          <a:p>
            <a:r>
              <a:rPr lang="en-US" dirty="0"/>
              <a:t>The reason might be that model is not sensitive to samples with no significant polarity in sentiment training data, and Llama’s pretrain data is not large enough for the model to identify sarcastic without information-rich context, but more tweets and reddit posts require large background info to understand the irony inside short text even for human.</a:t>
            </a:r>
          </a:p>
        </p:txBody>
      </p:sp>
    </p:spTree>
    <p:extLst>
      <p:ext uri="{BB962C8B-B14F-4D97-AF65-F5344CB8AC3E}">
        <p14:creationId xmlns:p14="http://schemas.microsoft.com/office/powerpoint/2010/main" val="3025280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46742-6019-0E5E-17B7-B3B58B6421A6}"/>
              </a:ext>
            </a:extLst>
          </p:cNvPr>
          <p:cNvSpPr>
            <a:spLocks noGrp="1"/>
          </p:cNvSpPr>
          <p:nvPr>
            <p:ph type="title"/>
          </p:nvPr>
        </p:nvSpPr>
        <p:spPr/>
        <p:txBody>
          <a:bodyPr/>
          <a:lstStyle/>
          <a:p>
            <a:r>
              <a:rPr lang="en-US" dirty="0"/>
              <a:t>Future Optional Steps</a:t>
            </a:r>
          </a:p>
        </p:txBody>
      </p:sp>
      <p:sp>
        <p:nvSpPr>
          <p:cNvPr id="3" name="Content Placeholder 2">
            <a:extLst>
              <a:ext uri="{FF2B5EF4-FFF2-40B4-BE49-F238E27FC236}">
                <a16:creationId xmlns:a16="http://schemas.microsoft.com/office/drawing/2014/main" id="{AC05A2AF-EEDE-AFA3-4257-7E96AA165595}"/>
              </a:ext>
            </a:extLst>
          </p:cNvPr>
          <p:cNvSpPr>
            <a:spLocks noGrp="1"/>
          </p:cNvSpPr>
          <p:nvPr>
            <p:ph idx="1"/>
          </p:nvPr>
        </p:nvSpPr>
        <p:spPr/>
        <p:txBody>
          <a:bodyPr/>
          <a:lstStyle/>
          <a:p>
            <a:r>
              <a:rPr lang="en-US" dirty="0"/>
              <a:t>Apply </a:t>
            </a:r>
            <a:r>
              <a:rPr lang="en-US" dirty="0" err="1"/>
              <a:t>TransMLA</a:t>
            </a:r>
            <a:r>
              <a:rPr lang="en-US" dirty="0"/>
              <a:t> technique to further lower the inference time and KV cache usage.</a:t>
            </a:r>
          </a:p>
          <a:p>
            <a:pPr lvl="1"/>
            <a:r>
              <a:rPr lang="en-US" dirty="0"/>
              <a:t>Llama-3,1-8B is a GQA (Group Query Attention) based model, which means it divides Qs into different groups, each group will share one K and one V. For example, if there are 32 heads, then 32 Qs will be divided into 4 groups, each group will share 1 K and 1 V.</a:t>
            </a:r>
          </a:p>
          <a:p>
            <a:pPr lvl="1"/>
            <a:r>
              <a:rPr lang="en-US" dirty="0"/>
              <a:t>MLA is</a:t>
            </a:r>
            <a:r>
              <a:rPr lang="zh-CN" altLang="en-US" dirty="0"/>
              <a:t> </a:t>
            </a:r>
            <a:r>
              <a:rPr lang="en-US" altLang="zh-CN" dirty="0"/>
              <a:t>an attention variant that projects K/V into a smaller latent space, it saves KV cache without sacrificing too much of the model’s performance.</a:t>
            </a:r>
          </a:p>
          <a:p>
            <a:pPr lvl="1"/>
            <a:r>
              <a:rPr lang="en-US" dirty="0" err="1"/>
              <a:t>TransMLA</a:t>
            </a:r>
            <a:r>
              <a:rPr lang="en-US" dirty="0"/>
              <a:t> is a technique that transform GQA based model into MLA based model.</a:t>
            </a:r>
          </a:p>
          <a:p>
            <a:r>
              <a:rPr lang="en-US" dirty="0"/>
              <a:t>Use multi-objective Bayesian optimization to find the optimal hyper parameters for </a:t>
            </a:r>
            <a:r>
              <a:rPr lang="en-US" dirty="0" err="1"/>
              <a:t>LoRA</a:t>
            </a:r>
            <a:r>
              <a:rPr lang="en-US" dirty="0"/>
              <a:t>.</a:t>
            </a:r>
          </a:p>
        </p:txBody>
      </p:sp>
    </p:spTree>
    <p:extLst>
      <p:ext uri="{BB962C8B-B14F-4D97-AF65-F5344CB8AC3E}">
        <p14:creationId xmlns:p14="http://schemas.microsoft.com/office/powerpoint/2010/main" val="1546677832"/>
      </p:ext>
    </p:extLst>
  </p:cSld>
  <p:clrMapOvr>
    <a:masterClrMapping/>
  </p:clrMapOvr>
</p:sld>
</file>

<file path=ppt/theme/theme1.xml><?xml version="1.0" encoding="utf-8"?>
<a:theme xmlns:a="http://schemas.openxmlformats.org/drawingml/2006/main" name="TribuneVTI">
  <a:themeElements>
    <a:clrScheme name="amasis">
      <a:dk1>
        <a:sysClr val="windowText" lastClr="000000"/>
      </a:dk1>
      <a:lt1>
        <a:sysClr val="window" lastClr="FFFFFF"/>
      </a:lt1>
      <a:dk2>
        <a:srgbClr val="470401"/>
      </a:dk2>
      <a:lt2>
        <a:srgbClr val="EBE2E2"/>
      </a:lt2>
      <a:accent1>
        <a:srgbClr val="BD1209"/>
      </a:accent1>
      <a:accent2>
        <a:srgbClr val="F40600"/>
      </a:accent2>
      <a:accent3>
        <a:srgbClr val="F26216"/>
      </a:accent3>
      <a:accent4>
        <a:srgbClr val="F0800D"/>
      </a:accent4>
      <a:accent5>
        <a:srgbClr val="3EA8B6"/>
      </a:accent5>
      <a:accent6>
        <a:srgbClr val="005B6B"/>
      </a:accent6>
      <a:hlink>
        <a:srgbClr val="F40600"/>
      </a:hlink>
      <a:folHlink>
        <a:srgbClr val="1C7E8E"/>
      </a:folHlink>
    </a:clrScheme>
    <a:fontScheme name="Amasis-Univers">
      <a:majorFont>
        <a:latin typeface="Amasis MT Pro Medium"/>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ribuneVTI" id="{4D84C650-59FC-4F6B-ADA6-B11C508FF6CE}" vid="{0E07EAE6-ACBC-4250-8522-FC108A4504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2254</TotalTime>
  <Words>1390</Words>
  <Application>Microsoft Macintosh PowerPoint</Application>
  <PresentationFormat>Widescreen</PresentationFormat>
  <Paragraphs>136</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Amasis MT Pro Medium</vt:lpstr>
      <vt:lpstr>Aptos</vt:lpstr>
      <vt:lpstr>Arial</vt:lpstr>
      <vt:lpstr>Cambria Math</vt:lpstr>
      <vt:lpstr>Univers Light</vt:lpstr>
      <vt:lpstr>TribuneVTI</vt:lpstr>
      <vt:lpstr>Building a Light-weight Sentiment &amp; Sarcasm Classifier</vt:lpstr>
      <vt:lpstr>Motivation - Scenario</vt:lpstr>
      <vt:lpstr>Motivation - Problem</vt:lpstr>
      <vt:lpstr>Project Goal</vt:lpstr>
      <vt:lpstr>Data - Source</vt:lpstr>
      <vt:lpstr>Data - Proprocessing</vt:lpstr>
      <vt:lpstr>Data – General Info</vt:lpstr>
      <vt:lpstr>Data – Label Distribution</vt:lpstr>
      <vt:lpstr>Data – Token Length</vt:lpstr>
      <vt:lpstr>Data – Word Frequency Long Tail Distribution</vt:lpstr>
      <vt:lpstr>Methology – Stage 1</vt:lpstr>
      <vt:lpstr>Methology – Stage 2</vt:lpstr>
      <vt:lpstr>Baseline Model – Accuracy and Macro-F1</vt:lpstr>
      <vt:lpstr>Baseline Model – Confusion Matrix</vt:lpstr>
      <vt:lpstr>Stage 1 – Accuracy &amp; Macro-F1</vt:lpstr>
      <vt:lpstr>Stage 2 – Accuracy &amp; Confusion Matrix</vt:lpstr>
      <vt:lpstr>Final Comparison</vt:lpstr>
      <vt:lpstr>Conclusion</vt:lpstr>
      <vt:lpstr>Future Optional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Pengli Shao</dc:creator>
  <cp:lastModifiedBy>Pengli Shao</cp:lastModifiedBy>
  <cp:revision>8</cp:revision>
  <dcterms:created xsi:type="dcterms:W3CDTF">2025-10-18T02:06:59Z</dcterms:created>
  <dcterms:modified xsi:type="dcterms:W3CDTF">2025-10-27T20:33:37Z</dcterms:modified>
</cp:coreProperties>
</file>